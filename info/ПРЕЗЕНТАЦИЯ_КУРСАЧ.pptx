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73" r:id="rId7"/>
    <p:sldId id="274" r:id="rId8"/>
    <p:sldId id="275" r:id="rId9"/>
    <p:sldId id="276" r:id="rId10"/>
    <p:sldId id="277" r:id="rId11"/>
    <p:sldId id="260" r:id="rId12"/>
    <p:sldId id="278" r:id="rId13"/>
    <p:sldId id="268" r:id="rId14"/>
    <p:sldId id="279" r:id="rId15"/>
    <p:sldId id="280" r:id="rId16"/>
  </p:sldIdLst>
  <p:sldSz cx="9144000" cy="5143500" type="screen16x9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1"/>
  </p:normalViewPr>
  <p:slideViewPr>
    <p:cSldViewPr snapToGrid="0">
      <p:cViewPr varScale="1">
        <p:scale>
          <a:sx n="121" d="100"/>
          <a:sy n="121" d="100"/>
        </p:scale>
        <p:origin x="176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32FDEE-7A17-47D1-B3D9-87238300C1E3}" type="doc">
      <dgm:prSet loTypeId="urn:microsoft.com/office/officeart/2005/8/layout/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CE4E79EA-4B45-433E-ABD2-62F33A5D50CC}">
      <dgm:prSet phldrT="[Текст]"/>
      <dgm:spPr/>
      <dgm:t>
        <a:bodyPr/>
        <a:lstStyle/>
        <a:p>
          <a:r>
            <a:rPr lang="ru-RU" dirty="0"/>
            <a:t>Спроектировать архитектуру системы и структуру базы данных</a:t>
          </a:r>
        </a:p>
      </dgm:t>
    </dgm:pt>
    <dgm:pt modelId="{CF2E0D4B-DF72-4FB7-83DC-86ADF7D4E745}" type="parTrans" cxnId="{395E031A-1A8A-4C70-A97C-30977323A6B9}">
      <dgm:prSet/>
      <dgm:spPr/>
      <dgm:t>
        <a:bodyPr/>
        <a:lstStyle/>
        <a:p>
          <a:endParaRPr lang="ru-RU"/>
        </a:p>
      </dgm:t>
    </dgm:pt>
    <dgm:pt modelId="{3269D7CA-268C-42CB-A8C5-AB2F83EECF95}" type="sibTrans" cxnId="{395E031A-1A8A-4C70-A97C-30977323A6B9}">
      <dgm:prSet/>
      <dgm:spPr/>
      <dgm:t>
        <a:bodyPr/>
        <a:lstStyle/>
        <a:p>
          <a:endParaRPr lang="ru-RU"/>
        </a:p>
      </dgm:t>
    </dgm:pt>
    <dgm:pt modelId="{31E51C51-E0C0-4B79-B440-05F15D66997E}">
      <dgm:prSet phldrT="[Текст]"/>
      <dgm:spPr/>
      <dgm:t>
        <a:bodyPr/>
        <a:lstStyle/>
        <a:p>
          <a:r>
            <a:rPr lang="ru-RU" dirty="0"/>
            <a:t>Реализовать </a:t>
          </a:r>
          <a:r>
            <a:rPr lang="en" dirty="0"/>
            <a:t>HTTP-</a:t>
          </a:r>
          <a:r>
            <a:rPr lang="ru-RU" dirty="0"/>
            <a:t>сервер на </a:t>
          </a:r>
          <a:r>
            <a:rPr lang="en" dirty="0"/>
            <a:t>C++ </a:t>
          </a:r>
          <a:r>
            <a:rPr lang="ru-RU" dirty="0"/>
            <a:t>с обработкой запросов и работой с БД</a:t>
          </a:r>
        </a:p>
      </dgm:t>
    </dgm:pt>
    <dgm:pt modelId="{DD36FB66-2876-4883-8F00-5BF25299D56A}" type="parTrans" cxnId="{BFB5CE9C-5250-4AEB-B6CD-57422B642369}">
      <dgm:prSet/>
      <dgm:spPr/>
      <dgm:t>
        <a:bodyPr/>
        <a:lstStyle/>
        <a:p>
          <a:endParaRPr lang="ru-RU"/>
        </a:p>
      </dgm:t>
    </dgm:pt>
    <dgm:pt modelId="{2721094C-D2BD-4A24-8A78-659127B6F209}" type="sibTrans" cxnId="{BFB5CE9C-5250-4AEB-B6CD-57422B642369}">
      <dgm:prSet/>
      <dgm:spPr/>
      <dgm:t>
        <a:bodyPr/>
        <a:lstStyle/>
        <a:p>
          <a:endParaRPr lang="ru-RU"/>
        </a:p>
      </dgm:t>
    </dgm:pt>
    <dgm:pt modelId="{2BC3F2F1-D220-4979-89F4-67F5D4BD393F}">
      <dgm:prSet phldrT="[Текст]"/>
      <dgm:spPr/>
      <dgm:t>
        <a:bodyPr/>
        <a:lstStyle/>
        <a:p>
          <a:r>
            <a:rPr lang="ru-RU" dirty="0"/>
            <a:t>Реализовать функциональность каталога и пользовательский интерфейс</a:t>
          </a:r>
        </a:p>
      </dgm:t>
    </dgm:pt>
    <dgm:pt modelId="{02CFB778-D444-46C6-959A-744B9D8820E1}" type="parTrans" cxnId="{DF0D9503-0A58-4CF5-8110-3CF1FE81DEDE}">
      <dgm:prSet/>
      <dgm:spPr/>
      <dgm:t>
        <a:bodyPr/>
        <a:lstStyle/>
        <a:p>
          <a:endParaRPr lang="ru-RU"/>
        </a:p>
      </dgm:t>
    </dgm:pt>
    <dgm:pt modelId="{51F023F9-9A8B-4AB0-843E-6DCC18F52558}" type="sibTrans" cxnId="{DF0D9503-0A58-4CF5-8110-3CF1FE81DEDE}">
      <dgm:prSet/>
      <dgm:spPr/>
      <dgm:t>
        <a:bodyPr/>
        <a:lstStyle/>
        <a:p>
          <a:endParaRPr lang="ru-RU"/>
        </a:p>
      </dgm:t>
    </dgm:pt>
    <dgm:pt modelId="{0A19F7D2-A156-4190-9FF3-2BD1C215F86C}">
      <dgm:prSet phldrT="[Текст]"/>
      <dgm:spPr/>
      <dgm:t>
        <a:bodyPr/>
        <a:lstStyle/>
        <a:p>
          <a:r>
            <a:rPr lang="ru-RU"/>
            <a:t>Обеспечить безопасность приложения и развертывание</a:t>
          </a:r>
          <a:endParaRPr lang="ru-RU" dirty="0"/>
        </a:p>
      </dgm:t>
    </dgm:pt>
    <dgm:pt modelId="{B358E551-5420-4A07-A240-5561902BD331}" type="parTrans" cxnId="{6F6B2A23-E5FD-4F43-AA2F-64BD5A87773A}">
      <dgm:prSet/>
      <dgm:spPr/>
      <dgm:t>
        <a:bodyPr/>
        <a:lstStyle/>
        <a:p>
          <a:endParaRPr lang="ru-RU"/>
        </a:p>
      </dgm:t>
    </dgm:pt>
    <dgm:pt modelId="{9CD0E1B7-3FD8-4A6F-9BEC-71BCE24C87C1}" type="sibTrans" cxnId="{6F6B2A23-E5FD-4F43-AA2F-64BD5A87773A}">
      <dgm:prSet/>
      <dgm:spPr/>
      <dgm:t>
        <a:bodyPr/>
        <a:lstStyle/>
        <a:p>
          <a:endParaRPr lang="ru-RU"/>
        </a:p>
      </dgm:t>
    </dgm:pt>
    <dgm:pt modelId="{06077998-126B-4182-9382-9A307ADA4663}" type="pres">
      <dgm:prSet presAssocID="{F832FDEE-7A17-47D1-B3D9-87238300C1E3}" presName="linear" presStyleCnt="0">
        <dgm:presLayoutVars>
          <dgm:dir/>
          <dgm:animLvl val="lvl"/>
          <dgm:resizeHandles val="exact"/>
        </dgm:presLayoutVars>
      </dgm:prSet>
      <dgm:spPr/>
    </dgm:pt>
    <dgm:pt modelId="{212B3E86-CF19-45D4-82C4-455FB0EDC6BC}" type="pres">
      <dgm:prSet presAssocID="{CE4E79EA-4B45-433E-ABD2-62F33A5D50CC}" presName="parentLin" presStyleCnt="0"/>
      <dgm:spPr/>
    </dgm:pt>
    <dgm:pt modelId="{B0DD9DB3-60FF-416D-BAF3-985665F6A8EC}" type="pres">
      <dgm:prSet presAssocID="{CE4E79EA-4B45-433E-ABD2-62F33A5D50CC}" presName="parentLeftMargin" presStyleLbl="node1" presStyleIdx="0" presStyleCnt="4"/>
      <dgm:spPr/>
    </dgm:pt>
    <dgm:pt modelId="{EB5738E0-AA39-42B1-9C89-5716D6F7D0D7}" type="pres">
      <dgm:prSet presAssocID="{CE4E79EA-4B45-433E-ABD2-62F33A5D50C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DBC0BC1-C422-436F-9A3D-E1AFDEF718FE}" type="pres">
      <dgm:prSet presAssocID="{CE4E79EA-4B45-433E-ABD2-62F33A5D50CC}" presName="negativeSpace" presStyleCnt="0"/>
      <dgm:spPr/>
    </dgm:pt>
    <dgm:pt modelId="{2EA33533-7304-4443-9DFF-A68E53987461}" type="pres">
      <dgm:prSet presAssocID="{CE4E79EA-4B45-433E-ABD2-62F33A5D50CC}" presName="childText" presStyleLbl="conFgAcc1" presStyleIdx="0" presStyleCnt="4">
        <dgm:presLayoutVars>
          <dgm:bulletEnabled val="1"/>
        </dgm:presLayoutVars>
      </dgm:prSet>
      <dgm:spPr/>
    </dgm:pt>
    <dgm:pt modelId="{B34A7190-0ED6-415A-A673-F4109536CB27}" type="pres">
      <dgm:prSet presAssocID="{3269D7CA-268C-42CB-A8C5-AB2F83EECF95}" presName="spaceBetweenRectangles" presStyleCnt="0"/>
      <dgm:spPr/>
    </dgm:pt>
    <dgm:pt modelId="{EE543B6A-D386-4FFA-9A37-2DC4D638DF86}" type="pres">
      <dgm:prSet presAssocID="{31E51C51-E0C0-4B79-B440-05F15D66997E}" presName="parentLin" presStyleCnt="0"/>
      <dgm:spPr/>
    </dgm:pt>
    <dgm:pt modelId="{8DCEFAA7-427F-48E8-A534-CFE5A85A83F4}" type="pres">
      <dgm:prSet presAssocID="{31E51C51-E0C0-4B79-B440-05F15D66997E}" presName="parentLeftMargin" presStyleLbl="node1" presStyleIdx="0" presStyleCnt="4"/>
      <dgm:spPr/>
    </dgm:pt>
    <dgm:pt modelId="{2D92D30A-E338-4ECB-BDFB-B283AC49FBCD}" type="pres">
      <dgm:prSet presAssocID="{31E51C51-E0C0-4B79-B440-05F15D66997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94FBC25-F7A1-4751-88EC-00B9481662B5}" type="pres">
      <dgm:prSet presAssocID="{31E51C51-E0C0-4B79-B440-05F15D66997E}" presName="negativeSpace" presStyleCnt="0"/>
      <dgm:spPr/>
    </dgm:pt>
    <dgm:pt modelId="{13CF1608-8366-4DAD-A10B-F477C4AB2944}" type="pres">
      <dgm:prSet presAssocID="{31E51C51-E0C0-4B79-B440-05F15D66997E}" presName="childText" presStyleLbl="conFgAcc1" presStyleIdx="1" presStyleCnt="4">
        <dgm:presLayoutVars>
          <dgm:bulletEnabled val="1"/>
        </dgm:presLayoutVars>
      </dgm:prSet>
      <dgm:spPr/>
    </dgm:pt>
    <dgm:pt modelId="{632077AC-726C-4C95-A287-748C2AD8A70C}" type="pres">
      <dgm:prSet presAssocID="{2721094C-D2BD-4A24-8A78-659127B6F209}" presName="spaceBetweenRectangles" presStyleCnt="0"/>
      <dgm:spPr/>
    </dgm:pt>
    <dgm:pt modelId="{4F6CFF38-BA1B-44C1-B8D6-86BAE8DD7561}" type="pres">
      <dgm:prSet presAssocID="{2BC3F2F1-D220-4979-89F4-67F5D4BD393F}" presName="parentLin" presStyleCnt="0"/>
      <dgm:spPr/>
    </dgm:pt>
    <dgm:pt modelId="{683675E3-0757-471F-943B-2BCB925081EA}" type="pres">
      <dgm:prSet presAssocID="{2BC3F2F1-D220-4979-89F4-67F5D4BD393F}" presName="parentLeftMargin" presStyleLbl="node1" presStyleIdx="1" presStyleCnt="4"/>
      <dgm:spPr/>
    </dgm:pt>
    <dgm:pt modelId="{6FCE61A6-2AC8-48C7-BBF7-25E707F84518}" type="pres">
      <dgm:prSet presAssocID="{2BC3F2F1-D220-4979-89F4-67F5D4BD393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8A89D3B-F74C-4A32-918B-B6626A1C65B6}" type="pres">
      <dgm:prSet presAssocID="{2BC3F2F1-D220-4979-89F4-67F5D4BD393F}" presName="negativeSpace" presStyleCnt="0"/>
      <dgm:spPr/>
    </dgm:pt>
    <dgm:pt modelId="{929025B3-3AD3-4453-8FF9-F49032BFB2DB}" type="pres">
      <dgm:prSet presAssocID="{2BC3F2F1-D220-4979-89F4-67F5D4BD393F}" presName="childText" presStyleLbl="conFgAcc1" presStyleIdx="2" presStyleCnt="4">
        <dgm:presLayoutVars>
          <dgm:bulletEnabled val="1"/>
        </dgm:presLayoutVars>
      </dgm:prSet>
      <dgm:spPr/>
    </dgm:pt>
    <dgm:pt modelId="{BBD2D26E-D334-447E-8D04-FA7886391223}" type="pres">
      <dgm:prSet presAssocID="{51F023F9-9A8B-4AB0-843E-6DCC18F52558}" presName="spaceBetweenRectangles" presStyleCnt="0"/>
      <dgm:spPr/>
    </dgm:pt>
    <dgm:pt modelId="{51C7EC43-62DC-4644-9DF3-BCDB9A975090}" type="pres">
      <dgm:prSet presAssocID="{0A19F7D2-A156-4190-9FF3-2BD1C215F86C}" presName="parentLin" presStyleCnt="0"/>
      <dgm:spPr/>
    </dgm:pt>
    <dgm:pt modelId="{523C4606-8DB5-4F2C-BBD3-6A9F841F378E}" type="pres">
      <dgm:prSet presAssocID="{0A19F7D2-A156-4190-9FF3-2BD1C215F86C}" presName="parentLeftMargin" presStyleLbl="node1" presStyleIdx="2" presStyleCnt="4"/>
      <dgm:spPr/>
    </dgm:pt>
    <dgm:pt modelId="{D76A64BA-6F8C-45AD-8458-24378077223F}" type="pres">
      <dgm:prSet presAssocID="{0A19F7D2-A156-4190-9FF3-2BD1C215F86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C4B1877-9BB9-4153-9BC7-A50AFAD9E870}" type="pres">
      <dgm:prSet presAssocID="{0A19F7D2-A156-4190-9FF3-2BD1C215F86C}" presName="negativeSpace" presStyleCnt="0"/>
      <dgm:spPr/>
    </dgm:pt>
    <dgm:pt modelId="{0F40ED6A-AC7B-48FE-99CD-944F32C7E643}" type="pres">
      <dgm:prSet presAssocID="{0A19F7D2-A156-4190-9FF3-2BD1C215F86C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F0D9503-0A58-4CF5-8110-3CF1FE81DEDE}" srcId="{F832FDEE-7A17-47D1-B3D9-87238300C1E3}" destId="{2BC3F2F1-D220-4979-89F4-67F5D4BD393F}" srcOrd="2" destOrd="0" parTransId="{02CFB778-D444-46C6-959A-744B9D8820E1}" sibTransId="{51F023F9-9A8B-4AB0-843E-6DCC18F52558}"/>
    <dgm:cxn modelId="{395E031A-1A8A-4C70-A97C-30977323A6B9}" srcId="{F832FDEE-7A17-47D1-B3D9-87238300C1E3}" destId="{CE4E79EA-4B45-433E-ABD2-62F33A5D50CC}" srcOrd="0" destOrd="0" parTransId="{CF2E0D4B-DF72-4FB7-83DC-86ADF7D4E745}" sibTransId="{3269D7CA-268C-42CB-A8C5-AB2F83EECF95}"/>
    <dgm:cxn modelId="{6F6B2A23-E5FD-4F43-AA2F-64BD5A87773A}" srcId="{F832FDEE-7A17-47D1-B3D9-87238300C1E3}" destId="{0A19F7D2-A156-4190-9FF3-2BD1C215F86C}" srcOrd="3" destOrd="0" parTransId="{B358E551-5420-4A07-A240-5561902BD331}" sibTransId="{9CD0E1B7-3FD8-4A6F-9BEC-71BCE24C87C1}"/>
    <dgm:cxn modelId="{31B4AA25-75E4-4847-A1EE-A9208F3CE574}" type="presOf" srcId="{CE4E79EA-4B45-433E-ABD2-62F33A5D50CC}" destId="{B0DD9DB3-60FF-416D-BAF3-985665F6A8EC}" srcOrd="0" destOrd="0" presId="urn:microsoft.com/office/officeart/2005/8/layout/list1"/>
    <dgm:cxn modelId="{09F6CD25-AE35-411F-AB1B-70C93DAF1E0B}" type="presOf" srcId="{CE4E79EA-4B45-433E-ABD2-62F33A5D50CC}" destId="{EB5738E0-AA39-42B1-9C89-5716D6F7D0D7}" srcOrd="1" destOrd="0" presId="urn:microsoft.com/office/officeart/2005/8/layout/list1"/>
    <dgm:cxn modelId="{7DBDDE4A-CE79-48D8-B7BE-5A89318AAFA8}" type="presOf" srcId="{31E51C51-E0C0-4B79-B440-05F15D66997E}" destId="{8DCEFAA7-427F-48E8-A534-CFE5A85A83F4}" srcOrd="0" destOrd="0" presId="urn:microsoft.com/office/officeart/2005/8/layout/list1"/>
    <dgm:cxn modelId="{5128A04F-2181-405E-9D77-5DBC605A05FD}" type="presOf" srcId="{2BC3F2F1-D220-4979-89F4-67F5D4BD393F}" destId="{683675E3-0757-471F-943B-2BCB925081EA}" srcOrd="0" destOrd="0" presId="urn:microsoft.com/office/officeart/2005/8/layout/list1"/>
    <dgm:cxn modelId="{47FD2B79-15CB-4F7F-B70E-B6CACAD523D5}" type="presOf" srcId="{F832FDEE-7A17-47D1-B3D9-87238300C1E3}" destId="{06077998-126B-4182-9382-9A307ADA4663}" srcOrd="0" destOrd="0" presId="urn:microsoft.com/office/officeart/2005/8/layout/list1"/>
    <dgm:cxn modelId="{AF869588-9828-40DC-89E4-53C4B445848C}" type="presOf" srcId="{31E51C51-E0C0-4B79-B440-05F15D66997E}" destId="{2D92D30A-E338-4ECB-BDFB-B283AC49FBCD}" srcOrd="1" destOrd="0" presId="urn:microsoft.com/office/officeart/2005/8/layout/list1"/>
    <dgm:cxn modelId="{BFB5CE9C-5250-4AEB-B6CD-57422B642369}" srcId="{F832FDEE-7A17-47D1-B3D9-87238300C1E3}" destId="{31E51C51-E0C0-4B79-B440-05F15D66997E}" srcOrd="1" destOrd="0" parTransId="{DD36FB66-2876-4883-8F00-5BF25299D56A}" sibTransId="{2721094C-D2BD-4A24-8A78-659127B6F209}"/>
    <dgm:cxn modelId="{BD64EFDA-BAEB-4F5E-AF3A-DB4DA63FCBF0}" type="presOf" srcId="{2BC3F2F1-D220-4979-89F4-67F5D4BD393F}" destId="{6FCE61A6-2AC8-48C7-BBF7-25E707F84518}" srcOrd="1" destOrd="0" presId="urn:microsoft.com/office/officeart/2005/8/layout/list1"/>
    <dgm:cxn modelId="{B5C9F3E6-4CA5-4710-9311-B58CC931AC9C}" type="presOf" srcId="{0A19F7D2-A156-4190-9FF3-2BD1C215F86C}" destId="{D76A64BA-6F8C-45AD-8458-24378077223F}" srcOrd="1" destOrd="0" presId="urn:microsoft.com/office/officeart/2005/8/layout/list1"/>
    <dgm:cxn modelId="{A4D7BCF0-8F04-462C-994A-A9715112D91B}" type="presOf" srcId="{0A19F7D2-A156-4190-9FF3-2BD1C215F86C}" destId="{523C4606-8DB5-4F2C-BBD3-6A9F841F378E}" srcOrd="0" destOrd="0" presId="urn:microsoft.com/office/officeart/2005/8/layout/list1"/>
    <dgm:cxn modelId="{96F83E73-D0DF-4D8F-B5EE-AE05A05A7BC3}" type="presParOf" srcId="{06077998-126B-4182-9382-9A307ADA4663}" destId="{212B3E86-CF19-45D4-82C4-455FB0EDC6BC}" srcOrd="0" destOrd="0" presId="urn:microsoft.com/office/officeart/2005/8/layout/list1"/>
    <dgm:cxn modelId="{C0CAC147-03FD-452A-B992-F02F0D618A5E}" type="presParOf" srcId="{212B3E86-CF19-45D4-82C4-455FB0EDC6BC}" destId="{B0DD9DB3-60FF-416D-BAF3-985665F6A8EC}" srcOrd="0" destOrd="0" presId="urn:microsoft.com/office/officeart/2005/8/layout/list1"/>
    <dgm:cxn modelId="{820EADF7-8FF8-4614-8886-8AFCFD2DDC3D}" type="presParOf" srcId="{212B3E86-CF19-45D4-82C4-455FB0EDC6BC}" destId="{EB5738E0-AA39-42B1-9C89-5716D6F7D0D7}" srcOrd="1" destOrd="0" presId="urn:microsoft.com/office/officeart/2005/8/layout/list1"/>
    <dgm:cxn modelId="{2555957C-5FFA-4EFC-8EA5-E7AF58419A67}" type="presParOf" srcId="{06077998-126B-4182-9382-9A307ADA4663}" destId="{4DBC0BC1-C422-436F-9A3D-E1AFDEF718FE}" srcOrd="1" destOrd="0" presId="urn:microsoft.com/office/officeart/2005/8/layout/list1"/>
    <dgm:cxn modelId="{00EE418E-4A17-4BAF-8963-7702442C3ABE}" type="presParOf" srcId="{06077998-126B-4182-9382-9A307ADA4663}" destId="{2EA33533-7304-4443-9DFF-A68E53987461}" srcOrd="2" destOrd="0" presId="urn:microsoft.com/office/officeart/2005/8/layout/list1"/>
    <dgm:cxn modelId="{C9E3942D-9B6F-490B-AD65-1200ADCEE198}" type="presParOf" srcId="{06077998-126B-4182-9382-9A307ADA4663}" destId="{B34A7190-0ED6-415A-A673-F4109536CB27}" srcOrd="3" destOrd="0" presId="urn:microsoft.com/office/officeart/2005/8/layout/list1"/>
    <dgm:cxn modelId="{73424CE1-B8A9-441A-A638-59501BA74A80}" type="presParOf" srcId="{06077998-126B-4182-9382-9A307ADA4663}" destId="{EE543B6A-D386-4FFA-9A37-2DC4D638DF86}" srcOrd="4" destOrd="0" presId="urn:microsoft.com/office/officeart/2005/8/layout/list1"/>
    <dgm:cxn modelId="{FF74AC74-923B-4003-8F1E-E1F53E5D334A}" type="presParOf" srcId="{EE543B6A-D386-4FFA-9A37-2DC4D638DF86}" destId="{8DCEFAA7-427F-48E8-A534-CFE5A85A83F4}" srcOrd="0" destOrd="0" presId="urn:microsoft.com/office/officeart/2005/8/layout/list1"/>
    <dgm:cxn modelId="{C929068A-5228-40FD-B2B2-AB46EBB5578B}" type="presParOf" srcId="{EE543B6A-D386-4FFA-9A37-2DC4D638DF86}" destId="{2D92D30A-E338-4ECB-BDFB-B283AC49FBCD}" srcOrd="1" destOrd="0" presId="urn:microsoft.com/office/officeart/2005/8/layout/list1"/>
    <dgm:cxn modelId="{1A6A010C-BA49-4F55-9D6C-A56912365D40}" type="presParOf" srcId="{06077998-126B-4182-9382-9A307ADA4663}" destId="{694FBC25-F7A1-4751-88EC-00B9481662B5}" srcOrd="5" destOrd="0" presId="urn:microsoft.com/office/officeart/2005/8/layout/list1"/>
    <dgm:cxn modelId="{2704BD94-41B4-482E-8E88-AFE62851E997}" type="presParOf" srcId="{06077998-126B-4182-9382-9A307ADA4663}" destId="{13CF1608-8366-4DAD-A10B-F477C4AB2944}" srcOrd="6" destOrd="0" presId="urn:microsoft.com/office/officeart/2005/8/layout/list1"/>
    <dgm:cxn modelId="{A2340E7A-00C5-4B57-B742-EA9D159832D7}" type="presParOf" srcId="{06077998-126B-4182-9382-9A307ADA4663}" destId="{632077AC-726C-4C95-A287-748C2AD8A70C}" srcOrd="7" destOrd="0" presId="urn:microsoft.com/office/officeart/2005/8/layout/list1"/>
    <dgm:cxn modelId="{6E047121-F8F8-4636-888F-81738DBC909E}" type="presParOf" srcId="{06077998-126B-4182-9382-9A307ADA4663}" destId="{4F6CFF38-BA1B-44C1-B8D6-86BAE8DD7561}" srcOrd="8" destOrd="0" presId="urn:microsoft.com/office/officeart/2005/8/layout/list1"/>
    <dgm:cxn modelId="{3529DCFF-B0BA-4B73-8E30-F0A412901485}" type="presParOf" srcId="{4F6CFF38-BA1B-44C1-B8D6-86BAE8DD7561}" destId="{683675E3-0757-471F-943B-2BCB925081EA}" srcOrd="0" destOrd="0" presId="urn:microsoft.com/office/officeart/2005/8/layout/list1"/>
    <dgm:cxn modelId="{0681856E-7B2F-442C-AA5E-C6FA8DA53721}" type="presParOf" srcId="{4F6CFF38-BA1B-44C1-B8D6-86BAE8DD7561}" destId="{6FCE61A6-2AC8-48C7-BBF7-25E707F84518}" srcOrd="1" destOrd="0" presId="urn:microsoft.com/office/officeart/2005/8/layout/list1"/>
    <dgm:cxn modelId="{BACA3A76-53CB-410A-8F61-AA26AAB4B4A9}" type="presParOf" srcId="{06077998-126B-4182-9382-9A307ADA4663}" destId="{B8A89D3B-F74C-4A32-918B-B6626A1C65B6}" srcOrd="9" destOrd="0" presId="urn:microsoft.com/office/officeart/2005/8/layout/list1"/>
    <dgm:cxn modelId="{4CAFCEC2-BF80-4F20-957D-4DD5DA78ECA6}" type="presParOf" srcId="{06077998-126B-4182-9382-9A307ADA4663}" destId="{929025B3-3AD3-4453-8FF9-F49032BFB2DB}" srcOrd="10" destOrd="0" presId="urn:microsoft.com/office/officeart/2005/8/layout/list1"/>
    <dgm:cxn modelId="{EB59FDDF-8A5E-4709-9B95-216782F05CE1}" type="presParOf" srcId="{06077998-126B-4182-9382-9A307ADA4663}" destId="{BBD2D26E-D334-447E-8D04-FA7886391223}" srcOrd="11" destOrd="0" presId="urn:microsoft.com/office/officeart/2005/8/layout/list1"/>
    <dgm:cxn modelId="{C38228F5-21CD-4C6E-AAC6-A6C115C75DCA}" type="presParOf" srcId="{06077998-126B-4182-9382-9A307ADA4663}" destId="{51C7EC43-62DC-4644-9DF3-BCDB9A975090}" srcOrd="12" destOrd="0" presId="urn:microsoft.com/office/officeart/2005/8/layout/list1"/>
    <dgm:cxn modelId="{41B9C7DA-B371-4621-8F7C-2008944FF4A8}" type="presParOf" srcId="{51C7EC43-62DC-4644-9DF3-BCDB9A975090}" destId="{523C4606-8DB5-4F2C-BBD3-6A9F841F378E}" srcOrd="0" destOrd="0" presId="urn:microsoft.com/office/officeart/2005/8/layout/list1"/>
    <dgm:cxn modelId="{6E88A973-95C0-4C3A-8BAD-1DC5FB09F86A}" type="presParOf" srcId="{51C7EC43-62DC-4644-9DF3-BCDB9A975090}" destId="{D76A64BA-6F8C-45AD-8458-24378077223F}" srcOrd="1" destOrd="0" presId="urn:microsoft.com/office/officeart/2005/8/layout/list1"/>
    <dgm:cxn modelId="{C878613C-CDEC-41BA-AB4C-6F9D7DD4994B}" type="presParOf" srcId="{06077998-126B-4182-9382-9A307ADA4663}" destId="{9C4B1877-9BB9-4153-9BC7-A50AFAD9E870}" srcOrd="13" destOrd="0" presId="urn:microsoft.com/office/officeart/2005/8/layout/list1"/>
    <dgm:cxn modelId="{F96B8250-FABF-4CEF-8A9D-3937259752E0}" type="presParOf" srcId="{06077998-126B-4182-9382-9A307ADA4663}" destId="{0F40ED6A-AC7B-48FE-99CD-944F32C7E643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A33533-7304-4443-9DFF-A68E53987461}">
      <dsp:nvSpPr>
        <dsp:cNvPr id="0" name=""/>
        <dsp:cNvSpPr/>
      </dsp:nvSpPr>
      <dsp:spPr>
        <a:xfrm>
          <a:off x="0" y="264599"/>
          <a:ext cx="8161920" cy="3276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5738E0-AA39-42B1-9C89-5716D6F7D0D7}">
      <dsp:nvSpPr>
        <dsp:cNvPr id="0" name=""/>
        <dsp:cNvSpPr/>
      </dsp:nvSpPr>
      <dsp:spPr>
        <a:xfrm>
          <a:off x="408096" y="72719"/>
          <a:ext cx="5713343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51" tIns="0" rIns="21595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Спроектировать архитектуру системы и структуру базы данных</a:t>
          </a:r>
        </a:p>
      </dsp:txBody>
      <dsp:txXfrm>
        <a:off x="426830" y="91453"/>
        <a:ext cx="5675875" cy="346292"/>
      </dsp:txXfrm>
    </dsp:sp>
    <dsp:sp modelId="{13CF1608-8366-4DAD-A10B-F477C4AB2944}">
      <dsp:nvSpPr>
        <dsp:cNvPr id="0" name=""/>
        <dsp:cNvSpPr/>
      </dsp:nvSpPr>
      <dsp:spPr>
        <a:xfrm>
          <a:off x="0" y="854279"/>
          <a:ext cx="8161920" cy="3276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92D30A-E338-4ECB-BDFB-B283AC49FBCD}">
      <dsp:nvSpPr>
        <dsp:cNvPr id="0" name=""/>
        <dsp:cNvSpPr/>
      </dsp:nvSpPr>
      <dsp:spPr>
        <a:xfrm>
          <a:off x="408096" y="662399"/>
          <a:ext cx="5713343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51" tIns="0" rIns="21595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Реализовать </a:t>
          </a:r>
          <a:r>
            <a:rPr lang="en" sz="1300" kern="1200" dirty="0"/>
            <a:t>HTTP-</a:t>
          </a:r>
          <a:r>
            <a:rPr lang="ru-RU" sz="1300" kern="1200" dirty="0"/>
            <a:t>сервер на </a:t>
          </a:r>
          <a:r>
            <a:rPr lang="en" sz="1300" kern="1200" dirty="0"/>
            <a:t>C++ </a:t>
          </a:r>
          <a:r>
            <a:rPr lang="ru-RU" sz="1300" kern="1200" dirty="0"/>
            <a:t>с обработкой запросов и работой с БД</a:t>
          </a:r>
        </a:p>
      </dsp:txBody>
      <dsp:txXfrm>
        <a:off x="426830" y="681133"/>
        <a:ext cx="5675875" cy="346292"/>
      </dsp:txXfrm>
    </dsp:sp>
    <dsp:sp modelId="{929025B3-3AD3-4453-8FF9-F49032BFB2DB}">
      <dsp:nvSpPr>
        <dsp:cNvPr id="0" name=""/>
        <dsp:cNvSpPr/>
      </dsp:nvSpPr>
      <dsp:spPr>
        <a:xfrm>
          <a:off x="0" y="1443960"/>
          <a:ext cx="8161920" cy="3276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CE61A6-2AC8-48C7-BBF7-25E707F84518}">
      <dsp:nvSpPr>
        <dsp:cNvPr id="0" name=""/>
        <dsp:cNvSpPr/>
      </dsp:nvSpPr>
      <dsp:spPr>
        <a:xfrm>
          <a:off x="408096" y="1252080"/>
          <a:ext cx="5713343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51" tIns="0" rIns="21595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Реализовать функциональность каталога и пользовательский интерфейс</a:t>
          </a:r>
        </a:p>
      </dsp:txBody>
      <dsp:txXfrm>
        <a:off x="426830" y="1270814"/>
        <a:ext cx="5675875" cy="346292"/>
      </dsp:txXfrm>
    </dsp:sp>
    <dsp:sp modelId="{0F40ED6A-AC7B-48FE-99CD-944F32C7E643}">
      <dsp:nvSpPr>
        <dsp:cNvPr id="0" name=""/>
        <dsp:cNvSpPr/>
      </dsp:nvSpPr>
      <dsp:spPr>
        <a:xfrm>
          <a:off x="0" y="2033640"/>
          <a:ext cx="8161920" cy="3276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A64BA-6F8C-45AD-8458-24378077223F}">
      <dsp:nvSpPr>
        <dsp:cNvPr id="0" name=""/>
        <dsp:cNvSpPr/>
      </dsp:nvSpPr>
      <dsp:spPr>
        <a:xfrm>
          <a:off x="408096" y="1841760"/>
          <a:ext cx="5713343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51" tIns="0" rIns="21595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/>
            <a:t>Обеспечить безопасность приложения и развертывание</a:t>
          </a:r>
          <a:endParaRPr lang="ru-RU" sz="1300" kern="1200" dirty="0"/>
        </a:p>
      </dsp:txBody>
      <dsp:txXfrm>
        <a:off x="426830" y="1860494"/>
        <a:ext cx="5675875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51640" y="281880"/>
            <a:ext cx="8229240" cy="57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3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20312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51640" y="281880"/>
            <a:ext cx="8229240" cy="57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3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20312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51640" y="281880"/>
            <a:ext cx="8229240" cy="57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3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20312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4674240" y="120312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51640" y="281880"/>
            <a:ext cx="8229240" cy="57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35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251640" y="281880"/>
            <a:ext cx="8229240" cy="2678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51640" y="281880"/>
            <a:ext cx="8229240" cy="57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3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1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12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57200" y="276156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51640" y="281880"/>
            <a:ext cx="8229240" cy="57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3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12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1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74240" y="276156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51640" y="281880"/>
            <a:ext cx="8229240" cy="57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3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1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2031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57200" y="276156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51640" y="281880"/>
            <a:ext cx="8229240" cy="57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3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1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57200" y="276156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51640" y="281880"/>
            <a:ext cx="8229240" cy="57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3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2031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674240" y="12031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457200" y="276156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4674240" y="276156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51640" y="281880"/>
            <a:ext cx="8229240" cy="57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3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2031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239640" y="12031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022080" y="12031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457200" y="276156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239640" y="276156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022080" y="276156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063"/>
              </a:spcBef>
              <a:buNone/>
            </a:pPr>
            <a:endParaRPr lang="ru-RU" sz="21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10"/>
          <p:cNvSpPr/>
          <p:nvPr/>
        </p:nvSpPr>
        <p:spPr>
          <a:xfrm>
            <a:off x="0" y="4821840"/>
            <a:ext cx="9143640" cy="321480"/>
          </a:xfrm>
          <a:prstGeom prst="rect">
            <a:avLst/>
          </a:prstGeom>
          <a:solidFill>
            <a:srgbClr val="0349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" name="Прямоугольник 11"/>
          <p:cNvSpPr/>
          <p:nvPr/>
        </p:nvSpPr>
        <p:spPr>
          <a:xfrm>
            <a:off x="0" y="0"/>
            <a:ext cx="9143640" cy="1605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TextBox 12"/>
          <p:cNvSpPr/>
          <p:nvPr/>
        </p:nvSpPr>
        <p:spPr>
          <a:xfrm>
            <a:off x="8215200" y="4915440"/>
            <a:ext cx="856800" cy="1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000" b="0" strike="noStrike" spc="-1">
                <a:solidFill>
                  <a:srgbClr val="FFFFFF"/>
                </a:solidFill>
                <a:latin typeface="Arial"/>
              </a:rPr>
              <a:t>www.nstu.ru</a:t>
            </a:r>
            <a:endParaRPr lang="ru-RU" sz="1000" b="0" strike="noStrike" spc="-1">
              <a:latin typeface="Arial"/>
            </a:endParaRPr>
          </a:p>
        </p:txBody>
      </p:sp>
      <p:pic>
        <p:nvPicPr>
          <p:cNvPr id="3" name="Рисунок 13"/>
          <p:cNvPicPr/>
          <p:nvPr/>
        </p:nvPicPr>
        <p:blipFill>
          <a:blip r:embed="rId14"/>
          <a:stretch/>
        </p:blipFill>
        <p:spPr>
          <a:xfrm>
            <a:off x="107640" y="4915440"/>
            <a:ext cx="464760" cy="1404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51640" y="281880"/>
            <a:ext cx="8229240" cy="577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ru-RU" sz="3000" b="1" strike="noStrike" spc="-1">
                <a:solidFill>
                  <a:srgbClr val="000000"/>
                </a:solidFill>
                <a:latin typeface="Arial"/>
              </a:rPr>
              <a:t>ОБРАЗЕЦ ЗАГОЛОВКА</a:t>
            </a:r>
            <a:endParaRPr lang="ru-RU" sz="3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12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06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strike="noStrike" spc="-1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strike="noStrike" spc="-1">
                <a:solidFill>
                  <a:srgbClr val="000000"/>
                </a:solidFill>
                <a:latin typeface="Calibri"/>
              </a:rPr>
              <a:t>Второй уровень структуры</a:t>
            </a:r>
          </a:p>
          <a:p>
            <a:pPr marL="1296000" lvl="2" indent="-288000">
              <a:lnSpc>
                <a:spcPct val="90000"/>
              </a:lnSpc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350" b="0" strike="noStrike" spc="-1">
                <a:solidFill>
                  <a:srgbClr val="000000"/>
                </a:solidFill>
                <a:latin typeface="Calibri"/>
              </a:rPr>
              <a:t>Третий уровень структуры</a:t>
            </a:r>
          </a:p>
          <a:p>
            <a:pPr marL="1728000" lvl="3" indent="-216000">
              <a:lnSpc>
                <a:spcPct val="90000"/>
              </a:lnSpc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350" b="0" strike="noStrike" spc="-1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</a:p>
          <a:p>
            <a:pPr marL="2160000" lvl="4" indent="-216000">
              <a:lnSpc>
                <a:spcPct val="9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strike="noStrike" spc="-1">
                <a:solidFill>
                  <a:srgbClr val="000000"/>
                </a:solidFill>
                <a:latin typeface="Calibri"/>
              </a:rPr>
              <a:t>Пятый уровень структуры</a:t>
            </a:r>
          </a:p>
          <a:p>
            <a:pPr marL="2592000" lvl="5" indent="-216000">
              <a:lnSpc>
                <a:spcPct val="9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strike="noStrike" spc="-1">
                <a:solidFill>
                  <a:srgbClr val="000000"/>
                </a:solidFill>
                <a:latin typeface="Calibri"/>
              </a:rPr>
              <a:t>Шестой уровень структуры</a:t>
            </a:r>
          </a:p>
          <a:p>
            <a:pPr marL="3024000" lvl="6" indent="-216000">
              <a:lnSpc>
                <a:spcPct val="90000"/>
              </a:lnSpc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strike="noStrike" spc="-1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Прямоугольник 19"/>
          <p:cNvSpPr/>
          <p:nvPr/>
        </p:nvSpPr>
        <p:spPr>
          <a:xfrm>
            <a:off x="0" y="0"/>
            <a:ext cx="6857640" cy="321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Заголовок 1"/>
          <p:cNvSpPr/>
          <p:nvPr/>
        </p:nvSpPr>
        <p:spPr>
          <a:xfrm>
            <a:off x="357120" y="214199"/>
            <a:ext cx="6232866" cy="17091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anchor="t">
            <a:normAutofit fontScale="77500" lnSpcReduction="20000"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spc="-1" dirty="0">
                <a:solidFill>
                  <a:srgbClr val="000000"/>
                </a:solidFill>
                <a:latin typeface="Arial"/>
              </a:rPr>
              <a:t>РАЗРАБОТКА ПРОГРАММНОГО ОБЕСПЕЧЕНИЯ ДЛЯ ОБРАБОТКИ СВЕДЕНИЯ ИНТЕГРАТОРОВ В СФЕРЕ ИНФОРМАЦИОННОЙ БЕЗОПАСНОСТИ </a:t>
            </a:r>
            <a:endParaRPr lang="ru-RU" sz="3200" b="0" strike="noStrike" spc="-1" dirty="0">
              <a:latin typeface="Arial"/>
            </a:endParaRPr>
          </a:p>
        </p:txBody>
      </p:sp>
      <p:sp>
        <p:nvSpPr>
          <p:cNvPr id="44" name="Прямоугольник 21"/>
          <p:cNvSpPr/>
          <p:nvPr/>
        </p:nvSpPr>
        <p:spPr>
          <a:xfrm>
            <a:off x="6858000" y="360"/>
            <a:ext cx="2285640" cy="5143320"/>
          </a:xfrm>
          <a:prstGeom prst="rect">
            <a:avLst/>
          </a:prstGeom>
          <a:solidFill>
            <a:srgbClr val="0349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5" name="Picture 2" descr="C:\Users\PACKAR~1\AppData\Local\Temp\Rar$DRa0.303\Белый.png"/>
          <p:cNvPicPr/>
          <p:nvPr/>
        </p:nvPicPr>
        <p:blipFill>
          <a:blip r:embed="rId2"/>
          <a:stretch/>
        </p:blipFill>
        <p:spPr>
          <a:xfrm>
            <a:off x="7247160" y="338400"/>
            <a:ext cx="1539360" cy="465120"/>
          </a:xfrm>
          <a:prstGeom prst="rect">
            <a:avLst/>
          </a:prstGeom>
          <a:ln w="0">
            <a:noFill/>
          </a:ln>
        </p:spPr>
      </p:pic>
      <p:sp>
        <p:nvSpPr>
          <p:cNvPr id="46" name="Подзаголовок 2"/>
          <p:cNvSpPr/>
          <p:nvPr/>
        </p:nvSpPr>
        <p:spPr>
          <a:xfrm>
            <a:off x="7186680" y="3825000"/>
            <a:ext cx="1571400" cy="10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anchor="t">
            <a:normAutofit fontScale="42000" lnSpcReduction="20000"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ru-RU" sz="2000" b="0" strike="noStrike" spc="-1">
                <a:solidFill>
                  <a:srgbClr val="FFFFFF"/>
                </a:solidFill>
                <a:latin typeface="Arial"/>
                <a:ea typeface="Stem Text"/>
              </a:rPr>
              <a:t>Новосибирский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ru-RU" sz="2000" b="0" strike="noStrike" spc="-1">
                <a:solidFill>
                  <a:srgbClr val="FFFFFF"/>
                </a:solidFill>
                <a:latin typeface="Arial"/>
                <a:ea typeface="Stem Text"/>
              </a:rPr>
              <a:t>государственный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ru-RU" sz="2000" b="0" strike="noStrike" spc="-1">
                <a:solidFill>
                  <a:srgbClr val="FFFFFF"/>
                </a:solidFill>
                <a:latin typeface="Arial"/>
                <a:ea typeface="Stem Text"/>
              </a:rPr>
              <a:t>технический 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ru-RU" sz="2000" b="0" strike="noStrike" spc="-1">
                <a:solidFill>
                  <a:srgbClr val="FFFFFF"/>
                </a:solidFill>
                <a:latin typeface="Arial"/>
                <a:ea typeface="Stem Text"/>
              </a:rPr>
              <a:t>Университет НЭТИ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1" strike="noStrike" spc="-1">
                <a:solidFill>
                  <a:srgbClr val="FFFFFF"/>
                </a:solidFill>
                <a:latin typeface="Arial"/>
                <a:ea typeface="Stem Text"/>
              </a:rPr>
              <a:t>nstu.ru</a:t>
            </a:r>
            <a:endParaRPr lang="ru-RU" sz="3200" b="0" strike="noStrike" spc="-1">
              <a:latin typeface="Arial"/>
            </a:endParaRPr>
          </a:p>
        </p:txBody>
      </p:sp>
      <p:sp>
        <p:nvSpPr>
          <p:cNvPr id="47" name="TextBox 24"/>
          <p:cNvSpPr/>
          <p:nvPr/>
        </p:nvSpPr>
        <p:spPr>
          <a:xfrm>
            <a:off x="179640" y="2160000"/>
            <a:ext cx="4500360" cy="29532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600" b="1" strike="noStrike" spc="-1" dirty="0">
                <a:solidFill>
                  <a:srgbClr val="0D0D0D"/>
                </a:solidFill>
                <a:latin typeface="Arial"/>
                <a:ea typeface="Stem Text Bold"/>
              </a:rPr>
              <a:t>Выполнил: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 dirty="0">
                <a:solidFill>
                  <a:srgbClr val="0D0D0D"/>
                </a:solidFill>
                <a:latin typeface="Arial"/>
                <a:ea typeface="Stem Text Bold"/>
              </a:rPr>
              <a:t>Викентьев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 dirty="0">
                <a:solidFill>
                  <a:srgbClr val="0D0D0D"/>
                </a:solidFill>
                <a:latin typeface="Arial"/>
                <a:ea typeface="Stem Text Bold"/>
              </a:rPr>
              <a:t>Вячеслав Юрьевич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i="1" strike="noStrike" spc="-1" dirty="0">
                <a:solidFill>
                  <a:srgbClr val="0D0D0D"/>
                </a:solidFill>
                <a:latin typeface="Arial"/>
                <a:ea typeface="Stem Text Bold"/>
              </a:rPr>
              <a:t>Студент гр. АБ-425, АВТФ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1" strike="noStrike" spc="-1" dirty="0">
                <a:solidFill>
                  <a:srgbClr val="0D0D0D"/>
                </a:solidFill>
                <a:latin typeface="Arial"/>
                <a:ea typeface="Stem Text Bold"/>
              </a:rPr>
              <a:t>Руководитель: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1" strike="noStrike" spc="-1" dirty="0">
                <a:solidFill>
                  <a:srgbClr val="0D0D0D"/>
                </a:solidFill>
                <a:latin typeface="Arial"/>
                <a:ea typeface="Stem Text Bold"/>
              </a:rPr>
              <a:t>Архипова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1" strike="noStrike" spc="-1" dirty="0">
                <a:solidFill>
                  <a:srgbClr val="0D0D0D"/>
                </a:solidFill>
                <a:latin typeface="Arial"/>
                <a:ea typeface="Stem Text Bold"/>
              </a:rPr>
              <a:t>Анастасия Борисовна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i="1" strike="noStrike" spc="-1" dirty="0">
                <a:solidFill>
                  <a:srgbClr val="0D0D0D"/>
                </a:solidFill>
                <a:latin typeface="Arial"/>
                <a:ea typeface="Stem Text Bold"/>
              </a:rPr>
              <a:t>к.т.н., доцент, доцент каф. ЗИ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 dirty="0">
              <a:latin typeface="Arial"/>
            </a:endParaRPr>
          </a:p>
        </p:txBody>
      </p:sp>
      <p:sp>
        <p:nvSpPr>
          <p:cNvPr id="48" name="Прямоугольник 25"/>
          <p:cNvSpPr/>
          <p:nvPr/>
        </p:nvSpPr>
        <p:spPr>
          <a:xfrm>
            <a:off x="0" y="4821840"/>
            <a:ext cx="6857640" cy="321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6"/>
          <p:cNvSpPr/>
          <p:nvPr/>
        </p:nvSpPr>
        <p:spPr>
          <a:xfrm>
            <a:off x="357120" y="267840"/>
            <a:ext cx="84294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Arial"/>
                <a:ea typeface="Stem Text Bold"/>
              </a:rPr>
              <a:t>Актуальность</a:t>
            </a:r>
            <a:endParaRPr lang="ru-RU" sz="1200" b="0" strike="noStrike" spc="-1" dirty="0">
              <a:latin typeface="Arial"/>
            </a:endParaRPr>
          </a:p>
        </p:txBody>
      </p:sp>
      <p:sp>
        <p:nvSpPr>
          <p:cNvPr id="51" name="TextBox 7"/>
          <p:cNvSpPr/>
          <p:nvPr/>
        </p:nvSpPr>
        <p:spPr>
          <a:xfrm>
            <a:off x="357119" y="1078523"/>
            <a:ext cx="8429399" cy="314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endParaRPr lang="ru-RU" sz="1400" b="0" strike="noStrike" spc="-1" dirty="0">
              <a:latin typeface="Arial"/>
            </a:endParaRPr>
          </a:p>
        </p:txBody>
      </p:sp>
      <p:sp>
        <p:nvSpPr>
          <p:cNvPr id="52" name="TextBox 4"/>
          <p:cNvSpPr/>
          <p:nvPr/>
        </p:nvSpPr>
        <p:spPr>
          <a:xfrm>
            <a:off x="8786880" y="4409640"/>
            <a:ext cx="249840" cy="28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  <a:ea typeface="Stem Text"/>
              </a:rPr>
              <a:t>2</a:t>
            </a:r>
            <a:endParaRPr lang="ru-RU" sz="2000" b="0" strike="noStrike" spc="-1">
              <a:latin typeface="Arial"/>
            </a:endParaRPr>
          </a:p>
        </p:txBody>
      </p:sp>
      <p:sp>
        <p:nvSpPr>
          <p:cNvPr id="54" name="TextBox 19"/>
          <p:cNvSpPr/>
          <p:nvPr/>
        </p:nvSpPr>
        <p:spPr>
          <a:xfrm>
            <a:off x="360000" y="20880"/>
            <a:ext cx="8786520" cy="12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800" b="0" strike="noStrike" spc="-1" dirty="0">
                <a:solidFill>
                  <a:srgbClr val="000000"/>
                </a:solidFill>
                <a:latin typeface="Arial"/>
              </a:rPr>
              <a:t>ТЕМА КУРСОВОЙ РАБОТЫ</a:t>
            </a:r>
            <a:endParaRPr lang="ru-RU" sz="800" b="0" strike="noStrike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559BE5-DAA6-BDEA-1ECE-0FA7AA8539DA}"/>
              </a:ext>
            </a:extLst>
          </p:cNvPr>
          <p:cNvSpPr txBox="1"/>
          <p:nvPr/>
        </p:nvSpPr>
        <p:spPr>
          <a:xfrm>
            <a:off x="265722" y="1106011"/>
            <a:ext cx="852079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Проблематика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• Отсутствие централизованного каталога интеграторов в сфере ИБ</a:t>
            </a:r>
          </a:p>
          <a:p>
            <a:r>
              <a:rPr lang="ru-RU" dirty="0"/>
              <a:t>• Сложность поиска и сравнения компаний по различным критериям</a:t>
            </a:r>
          </a:p>
          <a:p>
            <a:r>
              <a:rPr lang="ru-RU" dirty="0"/>
              <a:t>• Нет возможности получить отзывы и оценки от пользователей</a:t>
            </a:r>
            <a:endParaRPr lang="en-US" dirty="0"/>
          </a:p>
          <a:p>
            <a:r>
              <a:rPr lang="ru-RU" dirty="0"/>
              <a:t>Актуальность</a:t>
            </a:r>
            <a:r>
              <a:rPr lang="en-US" dirty="0"/>
              <a:t>: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 </a:t>
            </a:r>
            <a:r>
              <a:rPr lang="ru-RU" dirty="0">
                <a:effectLst/>
              </a:rPr>
              <a:t>Рост числа кибератак требует профессиональных решений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 </a:t>
            </a:r>
            <a:r>
              <a:rPr lang="ru-RU" dirty="0">
                <a:effectLst/>
              </a:rPr>
              <a:t>Необходимость быстрого поиска надежных партнеров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 </a:t>
            </a:r>
            <a:r>
              <a:rPr lang="ru-RU" dirty="0">
                <a:effectLst/>
              </a:rPr>
              <a:t>Важность оценки компетенций и опыта интеграторов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6"/>
          <p:cNvSpPr/>
          <p:nvPr/>
        </p:nvSpPr>
        <p:spPr>
          <a:xfrm>
            <a:off x="357120" y="251280"/>
            <a:ext cx="84294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Arial"/>
                <a:ea typeface="Stem Text Bold"/>
              </a:rPr>
              <a:t>Цель</a:t>
            </a:r>
            <a:endParaRPr lang="ru-RU" sz="1200" b="0" strike="noStrike" spc="-1" dirty="0">
              <a:latin typeface="Arial"/>
            </a:endParaRPr>
          </a:p>
        </p:txBody>
      </p:sp>
      <p:sp>
        <p:nvSpPr>
          <p:cNvPr id="56" name="TextBox 7"/>
          <p:cNvSpPr/>
          <p:nvPr/>
        </p:nvSpPr>
        <p:spPr>
          <a:xfrm>
            <a:off x="357120" y="857160"/>
            <a:ext cx="8072280" cy="20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400" b="0" strike="noStrike" spc="-1" dirty="0">
                <a:solidFill>
                  <a:srgbClr val="000000"/>
                </a:solidFill>
                <a:latin typeface="Arial"/>
                <a:ea typeface="Stem Text"/>
              </a:rPr>
              <a:t>Улучшить процесс поиска и выбора интеграторов в сфере информационной безопасности благодаря разработке централизованного веб-каталога с системой поиска, фильтрации, оценки и административного управления.</a:t>
            </a:r>
            <a:endParaRPr lang="ru-RU" sz="1400" b="0" strike="noStrike" spc="-1" dirty="0">
              <a:latin typeface="Arial"/>
            </a:endParaRPr>
          </a:p>
        </p:txBody>
      </p:sp>
      <p:sp>
        <p:nvSpPr>
          <p:cNvPr id="57" name="TextBox 4"/>
          <p:cNvSpPr/>
          <p:nvPr/>
        </p:nvSpPr>
        <p:spPr>
          <a:xfrm>
            <a:off x="267480" y="1482840"/>
            <a:ext cx="84294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Arial"/>
                <a:ea typeface="Stem Text Bold"/>
              </a:rPr>
              <a:t>Задачи:</a:t>
            </a:r>
            <a:endParaRPr lang="ru-RU" sz="1200" b="0" strike="noStrike" spc="-1" dirty="0">
              <a:latin typeface="Arial"/>
            </a:endParaRPr>
          </a:p>
        </p:txBody>
      </p:sp>
      <p:graphicFrame>
        <p:nvGraphicFramePr>
          <p:cNvPr id="2" name="Diagram1"/>
          <p:cNvGraphicFramePr/>
          <p:nvPr>
            <p:extLst>
              <p:ext uri="{D42A27DB-BD31-4B8C-83A1-F6EECF244321}">
                <p14:modId xmlns:p14="http://schemas.microsoft.com/office/powerpoint/2010/main" val="1218554726"/>
              </p:ext>
            </p:extLst>
          </p:nvPr>
        </p:nvGraphicFramePr>
        <p:xfrm>
          <a:off x="357120" y="2017080"/>
          <a:ext cx="8161920" cy="2433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0" name="TextBox 12"/>
          <p:cNvSpPr/>
          <p:nvPr/>
        </p:nvSpPr>
        <p:spPr>
          <a:xfrm>
            <a:off x="360000" y="20880"/>
            <a:ext cx="8786520" cy="12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800" b="0" strike="noStrike" spc="-1">
                <a:solidFill>
                  <a:srgbClr val="000000"/>
                </a:solidFill>
                <a:latin typeface="Arial"/>
              </a:rPr>
              <a:t>НАЗВАНИЕ ВАШЕЙ ПРЕЗЕНТАЦИИ</a:t>
            </a:r>
            <a:endParaRPr lang="ru-RU" sz="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"/>
          <p:cNvSpPr/>
          <p:nvPr/>
        </p:nvSpPr>
        <p:spPr>
          <a:xfrm>
            <a:off x="357120" y="267840"/>
            <a:ext cx="842940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Arial"/>
                <a:ea typeface="Stem Text Bold"/>
              </a:rPr>
              <a:t>ПРОЕКТИРОВАНИЕ </a:t>
            </a:r>
            <a:r>
              <a:rPr lang="ru-RU" sz="2800" b="1" spc="-1" dirty="0">
                <a:solidFill>
                  <a:srgbClr val="000000"/>
                </a:solidFill>
                <a:latin typeface="Arial"/>
                <a:ea typeface="Stem Text Bold"/>
              </a:rPr>
              <a:t>АРХИТЕКТУРЫ СИСТЕМЫ И СТУРКТУРЫ БАЗЫ ДАННЫХ</a:t>
            </a:r>
            <a:r>
              <a:rPr lang="ru-RU" sz="2800" b="1" strike="noStrike" spc="-1" dirty="0">
                <a:solidFill>
                  <a:srgbClr val="000000"/>
                </a:solidFill>
                <a:latin typeface="Arial"/>
                <a:ea typeface="Stem Text Bold"/>
              </a:rPr>
              <a:t> </a:t>
            </a:r>
            <a:endParaRPr lang="ru-RU" sz="1200" b="0" strike="noStrike" spc="-1" dirty="0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60000" y="20880"/>
            <a:ext cx="8786520" cy="12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800" b="0" strike="noStrike" spc="-1">
                <a:solidFill>
                  <a:srgbClr val="000000"/>
                </a:solidFill>
                <a:latin typeface="Arial"/>
              </a:rPr>
              <a:t>НАЗВАНИЕ ВАШЕЙ ПРЕЗЕНТАЦИИ</a:t>
            </a:r>
            <a:endParaRPr lang="ru-RU" sz="800" b="0" strike="noStrike" spc="-1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C7BAE3-85C7-DEE8-E69A-FB12D997CD0B}"/>
              </a:ext>
            </a:extLst>
          </p:cNvPr>
          <p:cNvSpPr txBox="1"/>
          <p:nvPr/>
        </p:nvSpPr>
        <p:spPr>
          <a:xfrm>
            <a:off x="357120" y="1334814"/>
            <a:ext cx="2356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Схема архитектуры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4360AC3-5C08-9311-1EA1-B55A54999C83}"/>
              </a:ext>
            </a:extLst>
          </p:cNvPr>
          <p:cNvSpPr/>
          <p:nvPr/>
        </p:nvSpPr>
        <p:spPr>
          <a:xfrm>
            <a:off x="578069" y="2333297"/>
            <a:ext cx="1839310" cy="84082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Клиент</a:t>
            </a:r>
          </a:p>
          <a:p>
            <a:pPr algn="ctr"/>
            <a:r>
              <a:rPr lang="ru-RU" dirty="0"/>
              <a:t>(Браузер)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F5CF13D-A78D-665B-6521-7E07C02E381D}"/>
              </a:ext>
            </a:extLst>
          </p:cNvPr>
          <p:cNvSpPr/>
          <p:nvPr/>
        </p:nvSpPr>
        <p:spPr>
          <a:xfrm>
            <a:off x="3505020" y="2333295"/>
            <a:ext cx="1839310" cy="84082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HTTP-</a:t>
            </a:r>
            <a:r>
              <a:rPr lang="ru-RU" dirty="0"/>
              <a:t>сервер</a:t>
            </a:r>
          </a:p>
          <a:p>
            <a:pPr algn="ctr"/>
            <a:r>
              <a:rPr lang="ru-RU" dirty="0"/>
              <a:t>(С++/</a:t>
            </a:r>
            <a:r>
              <a:rPr lang="en-US" dirty="0"/>
              <a:t>Sockets</a:t>
            </a:r>
            <a:r>
              <a:rPr lang="ru-RU" dirty="0"/>
              <a:t>)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FE7343E-EE62-B110-2B67-271ED616E844}"/>
              </a:ext>
            </a:extLst>
          </p:cNvPr>
          <p:cNvSpPr/>
          <p:nvPr/>
        </p:nvSpPr>
        <p:spPr>
          <a:xfrm>
            <a:off x="6474012" y="2333294"/>
            <a:ext cx="1839310" cy="84082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PostgreSQL</a:t>
            </a:r>
          </a:p>
          <a:p>
            <a:pPr algn="ctr"/>
            <a:r>
              <a:rPr lang="ru-RU" dirty="0"/>
              <a:t>(База данных)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EF644B39-4442-BDDB-B92B-B9CCF6976A84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2417379" y="2753709"/>
            <a:ext cx="108764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01F437D-593C-7983-B564-1DF630F6E5BE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5344330" y="2753708"/>
            <a:ext cx="11296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CF7B5-0C61-79AC-CDA1-5D5B1231C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">
            <a:extLst>
              <a:ext uri="{FF2B5EF4-FFF2-40B4-BE49-F238E27FC236}">
                <a16:creationId xmlns:a16="http://schemas.microsoft.com/office/drawing/2014/main" id="{5AA0064B-0A1A-C0B3-17D3-40BDF7DA7E17}"/>
              </a:ext>
            </a:extLst>
          </p:cNvPr>
          <p:cNvSpPr/>
          <p:nvPr/>
        </p:nvSpPr>
        <p:spPr>
          <a:xfrm>
            <a:off x="357120" y="267840"/>
            <a:ext cx="842940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Arial"/>
                <a:ea typeface="Stem Text Bold"/>
              </a:rPr>
              <a:t>ПРОЕКТИРОВАНИЕ </a:t>
            </a:r>
            <a:r>
              <a:rPr lang="ru-RU" sz="2800" b="1" spc="-1" dirty="0">
                <a:solidFill>
                  <a:srgbClr val="000000"/>
                </a:solidFill>
                <a:latin typeface="Arial"/>
                <a:ea typeface="Stem Text Bold"/>
              </a:rPr>
              <a:t>АРХИТЕКТУРЫ СИСТЕМЫ И СТУРКТУРЫ БАЗЫ ДАННЫХ</a:t>
            </a:r>
            <a:r>
              <a:rPr lang="ru-RU" sz="2800" b="1" strike="noStrike" spc="-1" dirty="0">
                <a:solidFill>
                  <a:srgbClr val="000000"/>
                </a:solidFill>
                <a:latin typeface="Arial"/>
                <a:ea typeface="Stem Text Bold"/>
              </a:rPr>
              <a:t> </a:t>
            </a:r>
            <a:endParaRPr lang="ru-RU" sz="1200" b="0" strike="noStrike" spc="-1" dirty="0">
              <a:latin typeface="Arial"/>
            </a:endParaRPr>
          </a:p>
        </p:txBody>
      </p:sp>
      <p:sp>
        <p:nvSpPr>
          <p:cNvPr id="64" name="TextBox 10">
            <a:extLst>
              <a:ext uri="{FF2B5EF4-FFF2-40B4-BE49-F238E27FC236}">
                <a16:creationId xmlns:a16="http://schemas.microsoft.com/office/drawing/2014/main" id="{3E1A14B1-BC56-5239-07A7-487A15A088F9}"/>
              </a:ext>
            </a:extLst>
          </p:cNvPr>
          <p:cNvSpPr/>
          <p:nvPr/>
        </p:nvSpPr>
        <p:spPr>
          <a:xfrm>
            <a:off x="360000" y="20880"/>
            <a:ext cx="8786520" cy="12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800" b="0" strike="noStrike" spc="-1">
                <a:solidFill>
                  <a:srgbClr val="000000"/>
                </a:solidFill>
                <a:latin typeface="Arial"/>
              </a:rPr>
              <a:t>НАЗВАНИЕ ВАШЕЙ ПРЕЗЕНТАЦИИ</a:t>
            </a:r>
            <a:endParaRPr lang="ru-RU" sz="800" b="0" strike="noStrike" spc="-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DEAC94-33C6-A450-5B4F-B7E5AAC65111}"/>
              </a:ext>
            </a:extLst>
          </p:cNvPr>
          <p:cNvSpPr txBox="1"/>
          <p:nvPr/>
        </p:nvSpPr>
        <p:spPr>
          <a:xfrm>
            <a:off x="357119" y="1346492"/>
            <a:ext cx="84293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+mj-lt"/>
              </a:rPr>
              <a:t>Реализовано</a:t>
            </a:r>
            <a:r>
              <a:rPr lang="en-US" dirty="0">
                <a:latin typeface="+mj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Трехзвенная архитектура (клиент-сервер-БД)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Нативный </a:t>
            </a:r>
            <a:r>
              <a:rPr lang="en" b="0" i="0" dirty="0">
                <a:effectLst/>
                <a:latin typeface="+mj-lt"/>
              </a:rPr>
              <a:t>HTTP-</a:t>
            </a:r>
            <a:r>
              <a:rPr lang="ru-RU" b="0" i="0" dirty="0">
                <a:effectLst/>
                <a:latin typeface="+mj-lt"/>
              </a:rPr>
              <a:t>сервер без фреймворков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b="0" i="0" dirty="0">
                <a:effectLst/>
                <a:latin typeface="+mj-lt"/>
              </a:rPr>
              <a:t>PostgreSQL </a:t>
            </a:r>
            <a:r>
              <a:rPr lang="ru-RU" b="0" i="0" dirty="0">
                <a:effectLst/>
                <a:latin typeface="+mj-lt"/>
              </a:rPr>
              <a:t>для надежного хранения данных</a:t>
            </a:r>
          </a:p>
          <a:p>
            <a:r>
              <a:rPr lang="ru-RU" dirty="0">
                <a:latin typeface="+mj-lt"/>
              </a:rPr>
              <a:t>Структура базы данных</a:t>
            </a:r>
            <a:r>
              <a:rPr lang="en-US" dirty="0">
                <a:latin typeface="+mj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8 таблиц: </a:t>
            </a:r>
            <a:r>
              <a:rPr lang="en" b="0" i="0" dirty="0">
                <a:effectLst/>
                <a:latin typeface="+mj-lt"/>
              </a:rPr>
              <a:t>integrators, users, sessions, ratings, licenses, certificates, products,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Связи </a:t>
            </a:r>
            <a:r>
              <a:rPr lang="en" b="0" i="0" dirty="0">
                <a:effectLst/>
                <a:latin typeface="+mj-lt"/>
              </a:rPr>
              <a:t>many-to-many (</a:t>
            </a:r>
            <a:r>
              <a:rPr lang="ru-RU" b="0" i="0" dirty="0">
                <a:effectLst/>
                <a:latin typeface="+mj-lt"/>
              </a:rPr>
              <a:t>интеграторы </a:t>
            </a:r>
            <a:r>
              <a:rPr lang="en-US" b="0" i="0" dirty="0">
                <a:effectLst/>
                <a:latin typeface="+mj-lt"/>
              </a:rPr>
              <a:t>-</a:t>
            </a:r>
            <a:r>
              <a:rPr lang="ru-RU" b="0" i="0" dirty="0">
                <a:effectLst/>
                <a:latin typeface="+mj-lt"/>
              </a:rPr>
              <a:t> продукты/услуги)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Референсная целостность с каскадным удалением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Нормализованная структура 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4059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8F606-00CF-154A-E8E7-77DFDE8E6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">
            <a:extLst>
              <a:ext uri="{FF2B5EF4-FFF2-40B4-BE49-F238E27FC236}">
                <a16:creationId xmlns:a16="http://schemas.microsoft.com/office/drawing/2014/main" id="{18D3F0C9-D679-101C-8019-A0F2C0D0B387}"/>
              </a:ext>
            </a:extLst>
          </p:cNvPr>
          <p:cNvSpPr/>
          <p:nvPr/>
        </p:nvSpPr>
        <p:spPr>
          <a:xfrm>
            <a:off x="357120" y="267840"/>
            <a:ext cx="84294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Arial"/>
              </a:rPr>
              <a:t>РЕАЛИЗАЦИЯ </a:t>
            </a:r>
            <a:r>
              <a:rPr lang="en-US" sz="2800" b="1" strike="noStrike" spc="-1" dirty="0">
                <a:solidFill>
                  <a:srgbClr val="000000"/>
                </a:solidFill>
                <a:latin typeface="Arial"/>
              </a:rPr>
              <a:t>HTTP-</a:t>
            </a:r>
            <a:r>
              <a:rPr lang="ru-RU" sz="2800" b="1" spc="-1" dirty="0">
                <a:solidFill>
                  <a:srgbClr val="000000"/>
                </a:solidFill>
                <a:latin typeface="Arial"/>
              </a:rPr>
              <a:t>СЕРВЕРА НА С++</a:t>
            </a:r>
            <a:endParaRPr lang="ru-RU" sz="1200" b="0" strike="noStrike" spc="-1" dirty="0">
              <a:latin typeface="Arial"/>
            </a:endParaRPr>
          </a:p>
        </p:txBody>
      </p:sp>
      <p:sp>
        <p:nvSpPr>
          <p:cNvPr id="64" name="TextBox 10">
            <a:extLst>
              <a:ext uri="{FF2B5EF4-FFF2-40B4-BE49-F238E27FC236}">
                <a16:creationId xmlns:a16="http://schemas.microsoft.com/office/drawing/2014/main" id="{9B64CB69-8B41-F4E1-697F-C7507A2201D1}"/>
              </a:ext>
            </a:extLst>
          </p:cNvPr>
          <p:cNvSpPr/>
          <p:nvPr/>
        </p:nvSpPr>
        <p:spPr>
          <a:xfrm>
            <a:off x="360000" y="20880"/>
            <a:ext cx="8786520" cy="12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800" b="0" strike="noStrike" spc="-1">
                <a:solidFill>
                  <a:srgbClr val="000000"/>
                </a:solidFill>
                <a:latin typeface="Arial"/>
              </a:rPr>
              <a:t>НАЗВАНИЕ ВАШЕЙ ПРЕЗЕНТАЦИИ</a:t>
            </a:r>
            <a:endParaRPr lang="ru-RU" sz="800" b="0" strike="noStrike" spc="-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7D2A49-8739-1374-E293-0208DA942C01}"/>
              </a:ext>
            </a:extLst>
          </p:cNvPr>
          <p:cNvSpPr txBox="1"/>
          <p:nvPr/>
        </p:nvSpPr>
        <p:spPr>
          <a:xfrm>
            <a:off x="357120" y="1293940"/>
            <a:ext cx="8429399" cy="4072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Реализация сервера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Нативный сервер на </a:t>
            </a:r>
            <a:r>
              <a:rPr lang="en" b="0" i="0" dirty="0">
                <a:effectLst/>
              </a:rPr>
              <a:t>POSIX sockets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Обработка </a:t>
            </a:r>
            <a:r>
              <a:rPr lang="en" b="0" i="0" dirty="0">
                <a:effectLst/>
              </a:rPr>
              <a:t>GET/POST </a:t>
            </a:r>
            <a:r>
              <a:rPr lang="ru-RU" b="0" i="0" dirty="0">
                <a:effectLst/>
              </a:rPr>
              <a:t>запросов вручную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 err="1">
                <a:effectLst/>
              </a:rPr>
              <a:t>Парсинг</a:t>
            </a:r>
            <a:r>
              <a:rPr lang="ru-RU" b="0" i="0" dirty="0">
                <a:effectLst/>
              </a:rPr>
              <a:t> </a:t>
            </a:r>
            <a:r>
              <a:rPr lang="en" b="0" i="0" dirty="0">
                <a:effectLst/>
              </a:rPr>
              <a:t>URL-</a:t>
            </a:r>
            <a:r>
              <a:rPr lang="ru-RU" b="0" i="0" dirty="0">
                <a:effectLst/>
              </a:rPr>
              <a:t>параметров и форм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/>
              <a:t>Г</a:t>
            </a:r>
            <a:r>
              <a:rPr lang="ru-RU" b="0" i="0" dirty="0">
                <a:effectLst/>
              </a:rPr>
              <a:t>енерация </a:t>
            </a:r>
            <a:r>
              <a:rPr lang="en" b="0" i="0" dirty="0">
                <a:effectLst/>
              </a:rPr>
              <a:t>HTML </a:t>
            </a:r>
            <a:r>
              <a:rPr lang="ru-RU" b="0" i="0" dirty="0">
                <a:effectLst/>
              </a:rPr>
              <a:t>на сервере</a:t>
            </a:r>
            <a:endParaRPr lang="en" b="0" i="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Управление </a:t>
            </a:r>
            <a:r>
              <a:rPr lang="en" b="0" i="0" dirty="0">
                <a:effectLst/>
              </a:rPr>
              <a:t>cookies </a:t>
            </a:r>
            <a:r>
              <a:rPr lang="ru-RU" b="0" i="0" dirty="0">
                <a:effectLst/>
              </a:rPr>
              <a:t>для сессий</a:t>
            </a:r>
          </a:p>
          <a:p>
            <a:r>
              <a:rPr lang="ru-RU" dirty="0"/>
              <a:t>Работа с базой данных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Библиотека </a:t>
            </a:r>
            <a:r>
              <a:rPr lang="en" b="0" i="0" dirty="0" err="1">
                <a:effectLst/>
              </a:rPr>
              <a:t>libpq</a:t>
            </a:r>
            <a:r>
              <a:rPr lang="en" b="0" i="0" dirty="0">
                <a:effectLst/>
              </a:rPr>
              <a:t> </a:t>
            </a:r>
            <a:r>
              <a:rPr lang="ru-RU" b="0" i="0" dirty="0">
                <a:effectLst/>
              </a:rPr>
              <a:t>для подключения к </a:t>
            </a:r>
            <a:r>
              <a:rPr lang="en" b="0" i="0" dirty="0">
                <a:effectLst/>
              </a:rPr>
              <a:t>PostgreSQL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Параметризованные запросы (</a:t>
            </a:r>
            <a:r>
              <a:rPr lang="en" b="0" i="0" dirty="0" err="1">
                <a:effectLst/>
              </a:rPr>
              <a:t>PQexecParams</a:t>
            </a:r>
            <a:r>
              <a:rPr lang="en" b="0" i="0" dirty="0">
                <a:effectLst/>
              </a:rPr>
              <a:t>)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" b="0" i="0" dirty="0">
                <a:effectLst/>
              </a:rPr>
              <a:t>SQL-</a:t>
            </a:r>
            <a:r>
              <a:rPr lang="ru-RU" b="0" i="0" dirty="0">
                <a:effectLst/>
              </a:rPr>
              <a:t>запросы вынесены в отдельный файл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Класс </a:t>
            </a:r>
            <a:r>
              <a:rPr lang="en" b="0" i="0" dirty="0">
                <a:effectLst/>
              </a:rPr>
              <a:t>Database </a:t>
            </a:r>
            <a:r>
              <a:rPr lang="ru-RU" b="0" i="0" dirty="0">
                <a:effectLst/>
              </a:rPr>
              <a:t>для инкапсуляции логики БД</a:t>
            </a:r>
          </a:p>
          <a:p>
            <a:pPr algn="l"/>
            <a:br>
              <a:rPr lang="ru-RU" b="0" i="0" dirty="0">
                <a:effectLst/>
                <a:latin typeface="-apple-system"/>
              </a:rPr>
            </a:br>
            <a:endParaRPr lang="ru-RU" b="0" i="0" dirty="0">
              <a:effectLst/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8877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8BAD8-D510-BB75-5BD6-DBFC4A931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">
            <a:extLst>
              <a:ext uri="{FF2B5EF4-FFF2-40B4-BE49-F238E27FC236}">
                <a16:creationId xmlns:a16="http://schemas.microsoft.com/office/drawing/2014/main" id="{229BC640-0096-165D-0060-2878F83A08A2}"/>
              </a:ext>
            </a:extLst>
          </p:cNvPr>
          <p:cNvSpPr/>
          <p:nvPr/>
        </p:nvSpPr>
        <p:spPr>
          <a:xfrm>
            <a:off x="357120" y="267840"/>
            <a:ext cx="84294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Arial"/>
              </a:rPr>
              <a:t>РЕАЛИЗАЦИЯ </a:t>
            </a:r>
            <a:r>
              <a:rPr lang="en-US" sz="2800" b="1" strike="noStrike" spc="-1" dirty="0">
                <a:solidFill>
                  <a:srgbClr val="000000"/>
                </a:solidFill>
                <a:latin typeface="Arial"/>
              </a:rPr>
              <a:t>HTTP-</a:t>
            </a:r>
            <a:r>
              <a:rPr lang="ru-RU" sz="2800" b="1" spc="-1" dirty="0">
                <a:solidFill>
                  <a:srgbClr val="000000"/>
                </a:solidFill>
                <a:latin typeface="Arial"/>
              </a:rPr>
              <a:t>СЕРВЕРА НА С++</a:t>
            </a:r>
            <a:endParaRPr lang="ru-RU" sz="1200" b="0" strike="noStrike" spc="-1" dirty="0">
              <a:latin typeface="Arial"/>
            </a:endParaRPr>
          </a:p>
        </p:txBody>
      </p:sp>
      <p:sp>
        <p:nvSpPr>
          <p:cNvPr id="64" name="TextBox 10">
            <a:extLst>
              <a:ext uri="{FF2B5EF4-FFF2-40B4-BE49-F238E27FC236}">
                <a16:creationId xmlns:a16="http://schemas.microsoft.com/office/drawing/2014/main" id="{6FCD5660-3FD7-FBC4-502C-6E816DD5FC5E}"/>
              </a:ext>
            </a:extLst>
          </p:cNvPr>
          <p:cNvSpPr/>
          <p:nvPr/>
        </p:nvSpPr>
        <p:spPr>
          <a:xfrm>
            <a:off x="360000" y="20880"/>
            <a:ext cx="8786520" cy="12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800" b="0" strike="noStrike" spc="-1">
                <a:solidFill>
                  <a:srgbClr val="000000"/>
                </a:solidFill>
                <a:latin typeface="Arial"/>
              </a:rPr>
              <a:t>НАЗВАНИЕ ВАШЕЙ ПРЕЗЕНТАЦИИ</a:t>
            </a:r>
            <a:endParaRPr lang="ru-RU" sz="800" b="0" strike="noStrike" spc="-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4A3208-4F1B-D72D-5AEB-593560DBD083}"/>
              </a:ext>
            </a:extLst>
          </p:cNvPr>
          <p:cNvSpPr txBox="1"/>
          <p:nvPr/>
        </p:nvSpPr>
        <p:spPr>
          <a:xfrm>
            <a:off x="357120" y="1293940"/>
            <a:ext cx="8429399" cy="2082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Особенности реализации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Обработка множественных подключений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Система сессий с уникальными токенами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br>
              <a:rPr lang="ru-RU" b="0" i="0" dirty="0">
                <a:effectLst/>
                <a:latin typeface="-apple-system"/>
              </a:rPr>
            </a:br>
            <a:endParaRPr lang="ru-RU" b="0" i="0" dirty="0">
              <a:effectLst/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3573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D265-56CF-C335-A87E-515C9E538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">
            <a:extLst>
              <a:ext uri="{FF2B5EF4-FFF2-40B4-BE49-F238E27FC236}">
                <a16:creationId xmlns:a16="http://schemas.microsoft.com/office/drawing/2014/main" id="{B27AB743-7E40-2D31-0D94-E37190944906}"/>
              </a:ext>
            </a:extLst>
          </p:cNvPr>
          <p:cNvSpPr/>
          <p:nvPr/>
        </p:nvSpPr>
        <p:spPr>
          <a:xfrm>
            <a:off x="357120" y="267840"/>
            <a:ext cx="8429400" cy="13835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Arial"/>
              </a:rPr>
              <a:t>РЕАЛИЗАЦИЯ ФУНКЦИОНАЛЬНОСТИ КАТАЛОГА И ПОЛЬЗОВАТЕЛЬСКОГО ИНТЕРФЕЙСА </a:t>
            </a:r>
            <a:endParaRPr lang="ru-RU" sz="1200" b="0" strike="noStrike" spc="-1" dirty="0">
              <a:latin typeface="Arial"/>
            </a:endParaRPr>
          </a:p>
        </p:txBody>
      </p:sp>
      <p:sp>
        <p:nvSpPr>
          <p:cNvPr id="64" name="TextBox 10">
            <a:extLst>
              <a:ext uri="{FF2B5EF4-FFF2-40B4-BE49-F238E27FC236}">
                <a16:creationId xmlns:a16="http://schemas.microsoft.com/office/drawing/2014/main" id="{897AFC24-AAEC-5338-0FD6-BB2C0A9DDEAC}"/>
              </a:ext>
            </a:extLst>
          </p:cNvPr>
          <p:cNvSpPr/>
          <p:nvPr/>
        </p:nvSpPr>
        <p:spPr>
          <a:xfrm>
            <a:off x="360000" y="20880"/>
            <a:ext cx="8786520" cy="12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800" b="0" strike="noStrike" spc="-1">
                <a:solidFill>
                  <a:srgbClr val="000000"/>
                </a:solidFill>
                <a:latin typeface="Arial"/>
              </a:rPr>
              <a:t>НАЗВАНИЕ ВАШЕЙ ПРЕЗЕНТАЦИИ</a:t>
            </a:r>
            <a:endParaRPr lang="ru-RU" sz="800" b="0" strike="noStrike" spc="-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B44D8A-3846-67C0-1F78-61849C54BEFD}"/>
              </a:ext>
            </a:extLst>
          </p:cNvPr>
          <p:cNvSpPr txBox="1"/>
          <p:nvPr/>
        </p:nvSpPr>
        <p:spPr>
          <a:xfrm>
            <a:off x="357121" y="1777380"/>
            <a:ext cx="8429399" cy="3775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Реализованный функционал для пользователей</a:t>
            </a:r>
            <a:r>
              <a:rPr lang="en-US" dirty="0"/>
              <a:t>: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Регистрация и авторизация с системой сессий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Поиск по названию и городу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Фильтрация по городам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Сортировка: название, город, рейтинг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Пагинация (5 записей на страницу)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Оценка интеграторов (1-5) с комментариями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Просмотр отзывов</a:t>
            </a:r>
          </a:p>
          <a:p>
            <a:endParaRPr lang="en-US" dirty="0"/>
          </a:p>
          <a:p>
            <a:pPr algn="l"/>
            <a:br>
              <a:rPr lang="ru-RU" b="0" i="0" dirty="0">
                <a:effectLst/>
                <a:latin typeface="-apple-system"/>
              </a:rPr>
            </a:br>
            <a:endParaRPr lang="ru-RU" b="0" i="0" dirty="0">
              <a:effectLst/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906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9DC48-7021-D963-39A9-D59CFF3F1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">
            <a:extLst>
              <a:ext uri="{FF2B5EF4-FFF2-40B4-BE49-F238E27FC236}">
                <a16:creationId xmlns:a16="http://schemas.microsoft.com/office/drawing/2014/main" id="{8F3086D3-E861-631B-EFB4-CB16000187BF}"/>
              </a:ext>
            </a:extLst>
          </p:cNvPr>
          <p:cNvSpPr/>
          <p:nvPr/>
        </p:nvSpPr>
        <p:spPr>
          <a:xfrm>
            <a:off x="357120" y="267840"/>
            <a:ext cx="8429400" cy="13835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Arial"/>
              </a:rPr>
              <a:t>РЕАЛИЗАЦИЯ ФУНКЦИОНАЛЬНОСТИ КАТАЛОГА И ПОЛЬЗОВАТЕЛЬСКОГО ИНТЕРФЕЙСА </a:t>
            </a:r>
            <a:endParaRPr lang="ru-RU" sz="1200" b="0" strike="noStrike" spc="-1" dirty="0">
              <a:latin typeface="Arial"/>
            </a:endParaRPr>
          </a:p>
        </p:txBody>
      </p:sp>
      <p:sp>
        <p:nvSpPr>
          <p:cNvPr id="64" name="TextBox 10">
            <a:extLst>
              <a:ext uri="{FF2B5EF4-FFF2-40B4-BE49-F238E27FC236}">
                <a16:creationId xmlns:a16="http://schemas.microsoft.com/office/drawing/2014/main" id="{57CB5210-E40C-632C-DCD0-0984EB37C7F3}"/>
              </a:ext>
            </a:extLst>
          </p:cNvPr>
          <p:cNvSpPr/>
          <p:nvPr/>
        </p:nvSpPr>
        <p:spPr>
          <a:xfrm>
            <a:off x="360000" y="20880"/>
            <a:ext cx="8786520" cy="12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800" b="0" strike="noStrike" spc="-1">
                <a:solidFill>
                  <a:srgbClr val="000000"/>
                </a:solidFill>
                <a:latin typeface="Arial"/>
              </a:rPr>
              <a:t>НАЗВАНИЕ ВАШЕЙ ПРЕЗЕНТАЦИИ</a:t>
            </a:r>
            <a:endParaRPr lang="ru-RU" sz="800" b="0" strike="noStrike" spc="-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995C49-9D62-ADD0-16AE-BCE02A7248C6}"/>
              </a:ext>
            </a:extLst>
          </p:cNvPr>
          <p:cNvSpPr txBox="1"/>
          <p:nvPr/>
        </p:nvSpPr>
        <p:spPr>
          <a:xfrm>
            <a:off x="357121" y="1777380"/>
            <a:ext cx="842939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Реализованный функционал для администраторов</a:t>
            </a:r>
            <a:r>
              <a:rPr lang="en-US" dirty="0"/>
              <a:t>: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" b="0" i="0" dirty="0">
                <a:effectLst/>
                <a:latin typeface="+mj-lt"/>
              </a:rPr>
              <a:t>CRUD-</a:t>
            </a:r>
            <a:r>
              <a:rPr lang="ru-RU" b="0" i="0" dirty="0">
                <a:effectLst/>
                <a:latin typeface="+mj-lt"/>
              </a:rPr>
              <a:t>операции для интеграторов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Управление лицензиями и сертификатами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+mj-lt"/>
              </a:rPr>
              <a:t>Связывание с продуктами и услугами</a:t>
            </a:r>
          </a:p>
          <a:p>
            <a:endParaRPr lang="en-US" dirty="0"/>
          </a:p>
          <a:p>
            <a:pPr algn="l"/>
            <a:br>
              <a:rPr lang="ru-RU" b="0" i="0" dirty="0">
                <a:effectLst/>
                <a:latin typeface="-apple-system"/>
              </a:rPr>
            </a:br>
            <a:endParaRPr lang="ru-RU" b="0" i="0" dirty="0">
              <a:effectLst/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319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5298E-2C77-AC67-CED5-757ED5673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">
            <a:extLst>
              <a:ext uri="{FF2B5EF4-FFF2-40B4-BE49-F238E27FC236}">
                <a16:creationId xmlns:a16="http://schemas.microsoft.com/office/drawing/2014/main" id="{D9DE25A4-6193-3E0C-FE2A-228662F9C3A8}"/>
              </a:ext>
            </a:extLst>
          </p:cNvPr>
          <p:cNvSpPr/>
          <p:nvPr/>
        </p:nvSpPr>
        <p:spPr>
          <a:xfrm>
            <a:off x="357120" y="267840"/>
            <a:ext cx="8429400" cy="13835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Arial"/>
              </a:rPr>
              <a:t>РЕАЛИЗАЦИЯ ФУНКЦИОНАЛЬНОСТИ КАТАЛОГА И ПОЛЬЗОВАТЕЛЬСКОГО ИНТЕРФЕЙСА </a:t>
            </a:r>
            <a:endParaRPr lang="ru-RU" sz="1200" b="0" strike="noStrike" spc="-1" dirty="0">
              <a:latin typeface="Arial"/>
            </a:endParaRPr>
          </a:p>
        </p:txBody>
      </p:sp>
      <p:sp>
        <p:nvSpPr>
          <p:cNvPr id="64" name="TextBox 10">
            <a:extLst>
              <a:ext uri="{FF2B5EF4-FFF2-40B4-BE49-F238E27FC236}">
                <a16:creationId xmlns:a16="http://schemas.microsoft.com/office/drawing/2014/main" id="{6945E2D0-B701-1F9B-DCBE-2DCE6EAD16B8}"/>
              </a:ext>
            </a:extLst>
          </p:cNvPr>
          <p:cNvSpPr/>
          <p:nvPr/>
        </p:nvSpPr>
        <p:spPr>
          <a:xfrm>
            <a:off x="360000" y="20880"/>
            <a:ext cx="8786520" cy="12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800" b="0" strike="noStrike" spc="-1">
                <a:solidFill>
                  <a:srgbClr val="000000"/>
                </a:solidFill>
                <a:latin typeface="Arial"/>
              </a:rPr>
              <a:t>НАЗВАНИЕ ВАШЕЙ ПРЕЗЕНТАЦИИ</a:t>
            </a:r>
            <a:endParaRPr lang="ru-RU" sz="800" b="0" strike="noStrike" spc="-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EDF390-8053-06BB-7077-6485C2C4ED4B}"/>
              </a:ext>
            </a:extLst>
          </p:cNvPr>
          <p:cNvSpPr txBox="1"/>
          <p:nvPr/>
        </p:nvSpPr>
        <p:spPr>
          <a:xfrm>
            <a:off x="357121" y="1777380"/>
            <a:ext cx="8429399" cy="2790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Пользовательский интерфейс</a:t>
            </a:r>
            <a:r>
              <a:rPr lang="en-US" dirty="0"/>
              <a:t>:</a:t>
            </a:r>
          </a:p>
          <a:p>
            <a:pPr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-apple-system"/>
              </a:rPr>
              <a:t> </a:t>
            </a:r>
            <a:r>
              <a:rPr lang="ru-RU" b="0" i="0" dirty="0">
                <a:effectLst/>
              </a:rPr>
              <a:t>Современный веб-дизайн</a:t>
            </a:r>
          </a:p>
          <a:p>
            <a:pPr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 </a:t>
            </a:r>
            <a:r>
              <a:rPr lang="ru-RU" b="0" i="0" dirty="0">
                <a:effectLst/>
              </a:rPr>
              <a:t>Модальные окна для редактирования</a:t>
            </a:r>
          </a:p>
          <a:p>
            <a:pPr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 </a:t>
            </a:r>
            <a:r>
              <a:rPr lang="ru-RU" b="0" i="0" dirty="0">
                <a:effectLst/>
              </a:rPr>
              <a:t>Динамическое добавление полей</a:t>
            </a:r>
          </a:p>
          <a:p>
            <a:pPr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 </a:t>
            </a:r>
            <a:r>
              <a:rPr lang="ru-RU" b="0" i="0" dirty="0">
                <a:effectLst/>
              </a:rPr>
              <a:t>Визуальное отображение рейтингов</a:t>
            </a:r>
          </a:p>
          <a:p>
            <a:endParaRPr lang="en-US" dirty="0"/>
          </a:p>
          <a:p>
            <a:pPr algn="l"/>
            <a:br>
              <a:rPr lang="ru-RU" b="0" i="0" dirty="0">
                <a:effectLst/>
                <a:latin typeface="-apple-system"/>
              </a:rPr>
            </a:br>
            <a:endParaRPr lang="ru-RU" b="0" i="0" dirty="0">
              <a:effectLst/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3263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5"/>
          <p:cNvSpPr/>
          <p:nvPr/>
        </p:nvSpPr>
        <p:spPr>
          <a:xfrm>
            <a:off x="357120" y="267840"/>
            <a:ext cx="842940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Arial"/>
              </a:rPr>
              <a:t>ОБЕСПЕЧЕНИЕ БЕЗОПАНОСТИ ВЕБ-ПРИЛОЖЕНИЯ И РАЗВЕРТЫВАНИЕ</a:t>
            </a:r>
            <a:endParaRPr lang="ru-RU" sz="1200" b="0" strike="noStrike" spc="-1" dirty="0">
              <a:latin typeface="Arial"/>
            </a:endParaRPr>
          </a:p>
        </p:txBody>
      </p:sp>
      <p:sp>
        <p:nvSpPr>
          <p:cNvPr id="68" name="TextBox 1"/>
          <p:cNvSpPr/>
          <p:nvPr/>
        </p:nvSpPr>
        <p:spPr>
          <a:xfrm>
            <a:off x="360000" y="20880"/>
            <a:ext cx="8786520" cy="12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800" b="0" strike="noStrike" spc="-1">
                <a:solidFill>
                  <a:srgbClr val="000000"/>
                </a:solidFill>
                <a:latin typeface="Arial"/>
              </a:rPr>
              <a:t>НАЗВАНИЕ ВАШЕЙ ПРЕЗЕНТАЦИИ</a:t>
            </a:r>
            <a:endParaRPr lang="ru-RU" sz="800" b="0" strike="noStrike" spc="-1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17B5A-6C21-77AE-CF01-BBF5275C590E}"/>
              </a:ext>
            </a:extLst>
          </p:cNvPr>
          <p:cNvSpPr txBox="1"/>
          <p:nvPr/>
        </p:nvSpPr>
        <p:spPr>
          <a:xfrm>
            <a:off x="357120" y="1220493"/>
            <a:ext cx="84294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Защита от </a:t>
            </a:r>
            <a:r>
              <a:rPr lang="en-US" dirty="0"/>
              <a:t>SQL-</a:t>
            </a:r>
            <a:r>
              <a:rPr lang="ru-RU" dirty="0"/>
              <a:t>инъекций</a:t>
            </a:r>
            <a:r>
              <a:rPr lang="en-US" dirty="0"/>
              <a:t>: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Параметризованные запросы (</a:t>
            </a:r>
            <a:r>
              <a:rPr lang="en" b="0" i="0" dirty="0" err="1">
                <a:effectLst/>
              </a:rPr>
              <a:t>PQexecParams</a:t>
            </a:r>
            <a:r>
              <a:rPr lang="en" b="0" i="0" dirty="0">
                <a:effectLst/>
              </a:rPr>
              <a:t>)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" b="0" i="0" dirty="0">
                <a:effectLst/>
              </a:rPr>
              <a:t>SQL-</a:t>
            </a:r>
            <a:r>
              <a:rPr lang="ru-RU" b="0" i="0" dirty="0">
                <a:effectLst/>
              </a:rPr>
              <a:t>запросы в отдельном файле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Отсутствие конкатенации строк в </a:t>
            </a:r>
            <a:r>
              <a:rPr lang="en" b="0" i="0" dirty="0">
                <a:effectLst/>
              </a:rPr>
              <a:t>SQL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Валидация входных данных</a:t>
            </a:r>
            <a:endParaRPr lang="en-US" b="0" i="0" dirty="0">
              <a:effectLst/>
            </a:endParaRP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ru-RU" b="0" i="0" dirty="0">
                <a:effectLst/>
              </a:rPr>
              <a:t>Защита от </a:t>
            </a:r>
            <a:r>
              <a:rPr lang="en-US" b="0" i="0" dirty="0">
                <a:effectLst/>
              </a:rPr>
              <a:t>XSS</a:t>
            </a:r>
            <a:r>
              <a:rPr lang="en-US" dirty="0"/>
              <a:t>: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dirty="0"/>
              <a:t>Э</a:t>
            </a:r>
            <a:r>
              <a:rPr lang="ru-RU" b="0" i="0" dirty="0">
                <a:effectLst/>
              </a:rPr>
              <a:t>кранирование </a:t>
            </a:r>
            <a:r>
              <a:rPr lang="en" b="0" i="0" dirty="0">
                <a:effectLst/>
              </a:rPr>
              <a:t>HTML-</a:t>
            </a:r>
            <a:r>
              <a:rPr lang="ru-RU" b="0" i="0" dirty="0">
                <a:effectLst/>
              </a:rPr>
              <a:t>символов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" b="0" i="0" dirty="0" err="1">
                <a:effectLst/>
              </a:rPr>
              <a:t>HttpOnly</a:t>
            </a:r>
            <a:r>
              <a:rPr lang="en" b="0" i="0" dirty="0">
                <a:effectLst/>
              </a:rPr>
              <a:t> cookies </a:t>
            </a:r>
            <a:r>
              <a:rPr lang="ru-RU" b="0" i="0" dirty="0">
                <a:effectLst/>
              </a:rPr>
              <a:t>для сессий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Валидация всех пользовательских данных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endParaRPr lang="ru-RU" b="0" i="0" dirty="0">
              <a:effectLst/>
              <a:latin typeface="-apple-system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8FB5E-EA98-EAF1-1886-2F7E5CB65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5">
            <a:extLst>
              <a:ext uri="{FF2B5EF4-FFF2-40B4-BE49-F238E27FC236}">
                <a16:creationId xmlns:a16="http://schemas.microsoft.com/office/drawing/2014/main" id="{7DE271A6-A33F-8365-99E4-3F734DD3F7BF}"/>
              </a:ext>
            </a:extLst>
          </p:cNvPr>
          <p:cNvSpPr/>
          <p:nvPr/>
        </p:nvSpPr>
        <p:spPr>
          <a:xfrm>
            <a:off x="357120" y="267840"/>
            <a:ext cx="842940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Arial"/>
              </a:rPr>
              <a:t>ОБЕСПЕЧЕНИЕ БЕЗОПАНОСТИ ВЕБ-ПРИЛОЖЕНИЯ И РАЗВЕРТЫВАНИЕ</a:t>
            </a:r>
            <a:endParaRPr lang="ru-RU" sz="1200" b="0" strike="noStrike" spc="-1" dirty="0">
              <a:latin typeface="Arial"/>
            </a:endParaRPr>
          </a:p>
        </p:txBody>
      </p:sp>
      <p:sp>
        <p:nvSpPr>
          <p:cNvPr id="68" name="TextBox 1">
            <a:extLst>
              <a:ext uri="{FF2B5EF4-FFF2-40B4-BE49-F238E27FC236}">
                <a16:creationId xmlns:a16="http://schemas.microsoft.com/office/drawing/2014/main" id="{6FD784E7-B5E3-0560-0BE0-CD335283D377}"/>
              </a:ext>
            </a:extLst>
          </p:cNvPr>
          <p:cNvSpPr/>
          <p:nvPr/>
        </p:nvSpPr>
        <p:spPr>
          <a:xfrm>
            <a:off x="360000" y="20880"/>
            <a:ext cx="8786520" cy="12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800" b="0" strike="noStrike" spc="-1">
                <a:solidFill>
                  <a:srgbClr val="000000"/>
                </a:solidFill>
                <a:latin typeface="Arial"/>
              </a:rPr>
              <a:t>НАЗВАНИЕ ВАШЕЙ ПРЕЗЕНТАЦИИ</a:t>
            </a:r>
            <a:endParaRPr lang="ru-RU" sz="800" b="0" strike="noStrike" spc="-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85A8D1-29EE-4E51-869C-DDF946540D8F}"/>
              </a:ext>
            </a:extLst>
          </p:cNvPr>
          <p:cNvSpPr txBox="1"/>
          <p:nvPr/>
        </p:nvSpPr>
        <p:spPr>
          <a:xfrm>
            <a:off x="851338" y="15555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1D4213-0779-CEF5-90CF-715D30108965}"/>
              </a:ext>
            </a:extLst>
          </p:cNvPr>
          <p:cNvSpPr txBox="1"/>
          <p:nvPr/>
        </p:nvSpPr>
        <p:spPr>
          <a:xfrm>
            <a:off x="357120" y="1220493"/>
            <a:ext cx="8429400" cy="3298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ru-RU" dirty="0"/>
              <a:t>Защита сессий</a:t>
            </a:r>
            <a:r>
              <a:rPr lang="en-US" dirty="0"/>
              <a:t>: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Уникальные </a:t>
            </a:r>
            <a:r>
              <a:rPr lang="en" b="0" i="0" dirty="0" err="1">
                <a:effectLst/>
              </a:rPr>
              <a:t>session_id</a:t>
            </a:r>
            <a:r>
              <a:rPr lang="en" b="0" i="0" dirty="0">
                <a:effectLst/>
              </a:rPr>
              <a:t> (32-</a:t>
            </a:r>
            <a:r>
              <a:rPr lang="ru-RU" b="0" i="0" dirty="0">
                <a:effectLst/>
              </a:rPr>
              <a:t>символьные </a:t>
            </a:r>
            <a:r>
              <a:rPr lang="en" b="0" i="0" dirty="0">
                <a:effectLst/>
              </a:rPr>
              <a:t>hex-</a:t>
            </a:r>
            <a:r>
              <a:rPr lang="ru-RU" b="0" i="0" dirty="0">
                <a:effectLst/>
              </a:rPr>
              <a:t>токены)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Проверка сессий при каждом запросе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Автоматическое истечение сессий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ru-RU" dirty="0"/>
              <a:t>Развертывание</a:t>
            </a:r>
            <a:r>
              <a:rPr lang="en-US" dirty="0"/>
              <a:t>: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" b="0" i="0" dirty="0">
                <a:effectLst/>
              </a:rPr>
              <a:t>Docker + Docker Compose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Автоматическая инициализация БД</a:t>
            </a:r>
          </a:p>
          <a:p>
            <a:pPr marL="285750" indent="-285750"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Готовые тестовые данные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endParaRPr lang="ru-RU" b="0" i="0" dirty="0">
              <a:effectLst/>
              <a:latin typeface="-apple-system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4424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6"/>
          <p:cNvSpPr/>
          <p:nvPr/>
        </p:nvSpPr>
        <p:spPr>
          <a:xfrm>
            <a:off x="357120" y="267840"/>
            <a:ext cx="842940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Arial"/>
                <a:ea typeface="Stem Text Bold"/>
              </a:rPr>
              <a:t>ЗАКЛЮЧЕНИЕ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  <a:ea typeface="Stem Text"/>
              </a:rPr>
              <a:t>(кегль не менее 2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Stem Text"/>
              </a:rPr>
              <a:t>8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  <a:ea typeface="Stem Text"/>
              </a:rPr>
              <a:t>, жирный, верхний регистр)</a:t>
            </a:r>
            <a:endParaRPr lang="ru-RU" sz="1200" b="0" strike="noStrike" spc="-1" dirty="0">
              <a:latin typeface="Arial"/>
            </a:endParaRPr>
          </a:p>
        </p:txBody>
      </p:sp>
      <p:sp>
        <p:nvSpPr>
          <p:cNvPr id="185" name="TextBox 7"/>
          <p:cNvSpPr/>
          <p:nvPr/>
        </p:nvSpPr>
        <p:spPr>
          <a:xfrm>
            <a:off x="357120" y="660240"/>
            <a:ext cx="8072280" cy="20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  <a:ea typeface="Stem Text"/>
              </a:rPr>
              <a:t>Текст слайда (кегль не менее 1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Stem Text"/>
              </a:rPr>
              <a:t>4</a:t>
            </a:r>
            <a:r>
              <a:rPr lang="ru-RU" sz="1400" b="0" strike="noStrike" spc="-1">
                <a:solidFill>
                  <a:srgbClr val="000000"/>
                </a:solidFill>
                <a:latin typeface="Arial"/>
                <a:ea typeface="Stem Text"/>
              </a:rPr>
              <a:t>)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186" name="TextBox 4"/>
          <p:cNvSpPr/>
          <p:nvPr/>
        </p:nvSpPr>
        <p:spPr>
          <a:xfrm>
            <a:off x="127080" y="1218240"/>
            <a:ext cx="8889480" cy="2973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1400" b="1" dirty="0" err="1"/>
              <a:t>Р</a:t>
            </a:r>
            <a:r>
              <a:rPr lang="ru-RU" sz="1400" b="1" dirty="0">
                <a:effectLst/>
              </a:rPr>
              <a:t>ЕЗУЛЬТАТЫ РАБОТЫ:</a:t>
            </a:r>
          </a:p>
          <a:p>
            <a:pPr marL="228600" indent="-228600">
              <a:spcBef>
                <a:spcPts val="150"/>
              </a:spcBef>
              <a:spcAft>
                <a:spcPts val="150"/>
              </a:spcAft>
              <a:buAutoNum type="arabicPeriod"/>
            </a:pPr>
            <a:r>
              <a:rPr lang="ru-RU" sz="1400" b="1" dirty="0">
                <a:effectLst/>
              </a:rPr>
              <a:t>СПРОЕКТИРОВАНА АРХИТЕКТУРА И БД:</a:t>
            </a:r>
          </a:p>
          <a:p>
            <a:pPr marL="17145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Реализована трехзвенная архитектура (клиент-сервер-БД)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   Спроектирована структура из 8 таблиц с нормализацией данных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sz="1400" dirty="0"/>
              <a:t>    </a:t>
            </a:r>
            <a:r>
              <a:rPr lang="ru-RU" sz="1400" dirty="0">
                <a:effectLst/>
              </a:rPr>
              <a:t>Настроены связи </a:t>
            </a:r>
            <a:r>
              <a:rPr lang="en" sz="1400" dirty="0">
                <a:effectLst/>
              </a:rPr>
              <a:t>many-to-many </a:t>
            </a:r>
            <a:r>
              <a:rPr lang="ru-RU" sz="1400" dirty="0">
                <a:effectLst/>
              </a:rPr>
              <a:t>для продуктов и услуг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   Обеспечена референсная целостность с каскадным удалением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400" b="1" dirty="0">
                <a:effectLst/>
              </a:rPr>
              <a:t>2. РЕАЛИЗОВАН </a:t>
            </a:r>
            <a:r>
              <a:rPr lang="en" sz="1400" b="1" dirty="0">
                <a:effectLst/>
              </a:rPr>
              <a:t>HTTP-</a:t>
            </a:r>
            <a:r>
              <a:rPr lang="ru-RU" sz="1400" b="1" dirty="0">
                <a:effectLst/>
              </a:rPr>
              <a:t>СЕРВЕР НА </a:t>
            </a:r>
            <a:r>
              <a:rPr lang="en" sz="1400" b="1" dirty="0">
                <a:effectLst/>
              </a:rPr>
              <a:t>C++:</a:t>
            </a:r>
            <a:endParaRPr lang="ru-RU" sz="1400" b="1" dirty="0">
              <a:effectLst/>
            </a:endParaRPr>
          </a:p>
          <a:p>
            <a:pPr marL="17145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Создан нативный </a:t>
            </a:r>
            <a:r>
              <a:rPr lang="en" sz="1400" dirty="0">
                <a:effectLst/>
              </a:rPr>
              <a:t>HTTP-</a:t>
            </a:r>
            <a:r>
              <a:rPr lang="ru-RU" sz="1400" dirty="0">
                <a:effectLst/>
              </a:rPr>
              <a:t>сервер на </a:t>
            </a:r>
            <a:r>
              <a:rPr lang="en" sz="1400" dirty="0">
                <a:effectLst/>
              </a:rPr>
              <a:t>POSIX sockets API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   Реализована обработка </a:t>
            </a:r>
            <a:r>
              <a:rPr lang="en" sz="1400" dirty="0">
                <a:effectLst/>
              </a:rPr>
              <a:t>GET/POST </a:t>
            </a:r>
            <a:r>
              <a:rPr lang="ru-RU" sz="1400" dirty="0">
                <a:effectLst/>
              </a:rPr>
              <a:t>запросов и </a:t>
            </a:r>
            <a:r>
              <a:rPr lang="ru-RU" sz="1400" dirty="0" err="1">
                <a:effectLst/>
              </a:rPr>
              <a:t>парсинг</a:t>
            </a:r>
            <a:r>
              <a:rPr lang="ru-RU" sz="1400" dirty="0">
                <a:effectLst/>
              </a:rPr>
              <a:t> параметров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   Интегрирована работа с </a:t>
            </a:r>
            <a:r>
              <a:rPr lang="en" sz="1400" dirty="0">
                <a:effectLst/>
              </a:rPr>
              <a:t>PostgreSQL </a:t>
            </a:r>
            <a:r>
              <a:rPr lang="ru-RU" sz="1400" dirty="0">
                <a:effectLst/>
              </a:rPr>
              <a:t>через библиотеку </a:t>
            </a:r>
            <a:r>
              <a:rPr lang="en" sz="1400" dirty="0" err="1">
                <a:effectLst/>
              </a:rPr>
              <a:t>libpq</a:t>
            </a:r>
            <a:endParaRPr lang="en" sz="1400" dirty="0"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   Реализована система сессий с уникальными токенами</a:t>
            </a:r>
          </a:p>
        </p:txBody>
      </p:sp>
      <p:sp>
        <p:nvSpPr>
          <p:cNvPr id="187" name="TextBox 33"/>
          <p:cNvSpPr/>
          <p:nvPr/>
        </p:nvSpPr>
        <p:spPr>
          <a:xfrm>
            <a:off x="360000" y="21600"/>
            <a:ext cx="8786520" cy="12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800" b="0" strike="noStrike" spc="-1">
                <a:solidFill>
                  <a:srgbClr val="000000"/>
                </a:solidFill>
                <a:latin typeface="Arial"/>
              </a:rPr>
              <a:t>НАЗВАНИЕ ВАШЕЙ ПРЕЗЕНТАЦИИ</a:t>
            </a:r>
            <a:endParaRPr lang="ru-RU" sz="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7D794-D2D3-A33A-11A8-6566BB0D4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6">
            <a:extLst>
              <a:ext uri="{FF2B5EF4-FFF2-40B4-BE49-F238E27FC236}">
                <a16:creationId xmlns:a16="http://schemas.microsoft.com/office/drawing/2014/main" id="{EEA54292-39D7-587F-2247-6AE1F79A27BF}"/>
              </a:ext>
            </a:extLst>
          </p:cNvPr>
          <p:cNvSpPr/>
          <p:nvPr/>
        </p:nvSpPr>
        <p:spPr>
          <a:xfrm>
            <a:off x="357120" y="267840"/>
            <a:ext cx="8429400" cy="5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800" b="1" strike="noStrike" spc="-1" dirty="0">
                <a:solidFill>
                  <a:srgbClr val="000000"/>
                </a:solidFill>
                <a:latin typeface="Arial"/>
                <a:ea typeface="Stem Text Bold"/>
              </a:rPr>
              <a:t>ЗАКЛЮЧЕНИЕ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  <a:ea typeface="Stem Text"/>
              </a:rPr>
              <a:t>(кегль не менее 2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Stem Text"/>
              </a:rPr>
              <a:t>8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  <a:ea typeface="Stem Text"/>
              </a:rPr>
              <a:t>, жирный, верхний регистр)</a:t>
            </a:r>
            <a:endParaRPr lang="ru-RU" sz="1200" b="0" strike="noStrike" spc="-1" dirty="0">
              <a:latin typeface="Arial"/>
            </a:endParaRPr>
          </a:p>
        </p:txBody>
      </p:sp>
      <p:sp>
        <p:nvSpPr>
          <p:cNvPr id="185" name="TextBox 7">
            <a:extLst>
              <a:ext uri="{FF2B5EF4-FFF2-40B4-BE49-F238E27FC236}">
                <a16:creationId xmlns:a16="http://schemas.microsoft.com/office/drawing/2014/main" id="{488213A6-A0BA-6046-AD1B-B2D1F47084C9}"/>
              </a:ext>
            </a:extLst>
          </p:cNvPr>
          <p:cNvSpPr/>
          <p:nvPr/>
        </p:nvSpPr>
        <p:spPr>
          <a:xfrm>
            <a:off x="357120" y="660240"/>
            <a:ext cx="8072280" cy="203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  <a:ea typeface="Stem Text"/>
              </a:rPr>
              <a:t>Текст слайда (кегль не менее 1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Stem Text"/>
              </a:rPr>
              <a:t>4</a:t>
            </a:r>
            <a:r>
              <a:rPr lang="ru-RU" sz="1400" b="0" strike="noStrike" spc="-1">
                <a:solidFill>
                  <a:srgbClr val="000000"/>
                </a:solidFill>
                <a:latin typeface="Arial"/>
                <a:ea typeface="Stem Text"/>
              </a:rPr>
              <a:t>)</a:t>
            </a:r>
            <a:endParaRPr lang="ru-RU" sz="1400" b="0" strike="noStrike" spc="-1">
              <a:latin typeface="Arial"/>
            </a:endParaRPr>
          </a:p>
        </p:txBody>
      </p:sp>
      <p:sp>
        <p:nvSpPr>
          <p:cNvPr id="186" name="TextBox 4">
            <a:extLst>
              <a:ext uri="{FF2B5EF4-FFF2-40B4-BE49-F238E27FC236}">
                <a16:creationId xmlns:a16="http://schemas.microsoft.com/office/drawing/2014/main" id="{A3770D25-0865-1334-5278-4BF13407B91F}"/>
              </a:ext>
            </a:extLst>
          </p:cNvPr>
          <p:cNvSpPr/>
          <p:nvPr/>
        </p:nvSpPr>
        <p:spPr>
          <a:xfrm>
            <a:off x="127080" y="1218240"/>
            <a:ext cx="8659440" cy="34918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1400" b="1" dirty="0" err="1"/>
              <a:t>Р</a:t>
            </a:r>
            <a:r>
              <a:rPr lang="ru-RU" sz="1400" b="1" dirty="0">
                <a:effectLst/>
              </a:rPr>
              <a:t>ЕЗУЛЬТАТЫ РАБОТЫ: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400" b="1" dirty="0">
                <a:effectLst/>
              </a:rPr>
              <a:t>3. РЕАЛИЗОВАНА ФУНКЦИОНАЛЬНОСТЬ КАТАЛОГА:</a:t>
            </a:r>
          </a:p>
          <a:p>
            <a:pPr marL="17145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7 функций для пользователей: регистрация, поиск, фильтрация, сортировка, пагинация, оценка, просмотр отзывов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   3 функции для администраторов: </a:t>
            </a:r>
            <a:r>
              <a:rPr lang="en" sz="1400" dirty="0">
                <a:effectLst/>
              </a:rPr>
              <a:t>CRUD-</a:t>
            </a:r>
            <a:r>
              <a:rPr lang="ru-RU" sz="1400" dirty="0">
                <a:effectLst/>
              </a:rPr>
              <a:t>операции, управление лицензиями/сертификатами, связывание с продуктами/услугами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400" b="1" dirty="0">
                <a:effectLst/>
              </a:rPr>
              <a:t>4. ОБЕСПЕЧЕНА БЕЗОПАСНОСТЬ И РАЗВЕРТЫВАНИЕ:</a:t>
            </a:r>
          </a:p>
          <a:p>
            <a:pPr marL="171450" indent="-1714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Реализована защита от </a:t>
            </a:r>
            <a:r>
              <a:rPr lang="en" sz="1400" dirty="0">
                <a:effectLst/>
              </a:rPr>
              <a:t>SQL-</a:t>
            </a:r>
            <a:r>
              <a:rPr lang="ru-RU" sz="1400" dirty="0">
                <a:effectLst/>
              </a:rPr>
              <a:t>инъекций через параметризованные запросы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   Обеспечена защита от </a:t>
            </a:r>
            <a:r>
              <a:rPr lang="en" sz="1400" dirty="0">
                <a:effectLst/>
              </a:rPr>
              <a:t>XSS </a:t>
            </a:r>
            <a:r>
              <a:rPr lang="ru-RU" sz="1400" dirty="0">
                <a:effectLst/>
              </a:rPr>
              <a:t>через экранирование </a:t>
            </a:r>
            <a:r>
              <a:rPr lang="en" sz="1400" dirty="0">
                <a:effectLst/>
              </a:rPr>
              <a:t>HTML </a:t>
            </a:r>
            <a:r>
              <a:rPr lang="ru-RU" sz="1400" dirty="0">
                <a:effectLst/>
              </a:rPr>
              <a:t>и </a:t>
            </a:r>
            <a:r>
              <a:rPr lang="en" sz="1400" dirty="0" err="1">
                <a:effectLst/>
              </a:rPr>
              <a:t>HttpOnly</a:t>
            </a:r>
            <a:r>
              <a:rPr lang="en" sz="1400" dirty="0">
                <a:effectLst/>
              </a:rPr>
              <a:t> cookies</a:t>
            </a:r>
          </a:p>
          <a:p>
            <a:pPr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effectLst/>
              </a:rPr>
              <a:t>   Настроено развертывание через </a:t>
            </a:r>
            <a:r>
              <a:rPr lang="en" sz="1400" dirty="0">
                <a:effectLst/>
              </a:rPr>
              <a:t>Docker Compose </a:t>
            </a:r>
            <a:r>
              <a:rPr lang="ru-RU" sz="1400" dirty="0">
                <a:effectLst/>
              </a:rPr>
              <a:t>с автоматической инициализацией БД</a:t>
            </a:r>
          </a:p>
          <a:p>
            <a:r>
              <a:rPr lang="ru-RU" sz="1400" b="1" dirty="0">
                <a:effectLst/>
              </a:rPr>
              <a:t>ДОСТИГНУТА ЦЕЛЬ:</a:t>
            </a:r>
          </a:p>
          <a:p>
            <a:r>
              <a:rPr lang="ru-RU" sz="1400" dirty="0">
                <a:effectLst/>
              </a:rPr>
              <a:t>Создан централизованный веб-каталог интеграторов в сфере информационной безопасности, обеспечивающий эффективный поиск, фильтрацию, оценку и административное управление информацией о компаниях.</a:t>
            </a:r>
          </a:p>
        </p:txBody>
      </p:sp>
      <p:sp>
        <p:nvSpPr>
          <p:cNvPr id="187" name="TextBox 33">
            <a:extLst>
              <a:ext uri="{FF2B5EF4-FFF2-40B4-BE49-F238E27FC236}">
                <a16:creationId xmlns:a16="http://schemas.microsoft.com/office/drawing/2014/main" id="{A721D6ED-4015-152A-FAA4-729017517E39}"/>
              </a:ext>
            </a:extLst>
          </p:cNvPr>
          <p:cNvSpPr/>
          <p:nvPr/>
        </p:nvSpPr>
        <p:spPr>
          <a:xfrm>
            <a:off x="360000" y="21600"/>
            <a:ext cx="8786520" cy="12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800" b="0" strike="noStrike" spc="-1">
                <a:solidFill>
                  <a:srgbClr val="000000"/>
                </a:solidFill>
                <a:latin typeface="Arial"/>
              </a:rPr>
              <a:t>НАЗВАНИЕ ВАШЕЙ ПРЕЗЕНТАЦИИ</a:t>
            </a:r>
            <a:endParaRPr lang="ru-RU" sz="8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5983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024C7-ADD7-AC7B-CC8B-D606FC248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Прямоугольник 19">
            <a:extLst>
              <a:ext uri="{FF2B5EF4-FFF2-40B4-BE49-F238E27FC236}">
                <a16:creationId xmlns:a16="http://schemas.microsoft.com/office/drawing/2014/main" id="{3D917ED8-EC6F-F5AB-CA95-8900B86CAEF1}"/>
              </a:ext>
            </a:extLst>
          </p:cNvPr>
          <p:cNvSpPr/>
          <p:nvPr/>
        </p:nvSpPr>
        <p:spPr>
          <a:xfrm>
            <a:off x="0" y="0"/>
            <a:ext cx="6857640" cy="321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Заголовок 1">
            <a:extLst>
              <a:ext uri="{FF2B5EF4-FFF2-40B4-BE49-F238E27FC236}">
                <a16:creationId xmlns:a16="http://schemas.microsoft.com/office/drawing/2014/main" id="{494A8801-F841-9B75-A69C-962C0CBEB01C}"/>
              </a:ext>
            </a:extLst>
          </p:cNvPr>
          <p:cNvSpPr/>
          <p:nvPr/>
        </p:nvSpPr>
        <p:spPr>
          <a:xfrm>
            <a:off x="357120" y="214199"/>
            <a:ext cx="6232866" cy="17091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anchor="t">
            <a:normAutofit fontScale="77500" lnSpcReduction="20000"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1" spc="-1" dirty="0">
                <a:solidFill>
                  <a:srgbClr val="000000"/>
                </a:solidFill>
                <a:latin typeface="Arial"/>
              </a:rPr>
              <a:t>РАЗРАБОТКА ПРОГРАММНОГО ОБЕСПЕЧЕНИЯ ДЛЯ ОБРАБОТКИ СВЕДЕНИЯ ИНТЕГРАТОРОВ В СФЕРЕ ИНФОРМАЦИОННОЙ БЕЗОПАСНОСТИ </a:t>
            </a:r>
            <a:endParaRPr lang="ru-RU" sz="3200" b="0" strike="noStrike" spc="-1" dirty="0">
              <a:latin typeface="Arial"/>
            </a:endParaRPr>
          </a:p>
        </p:txBody>
      </p:sp>
      <p:sp>
        <p:nvSpPr>
          <p:cNvPr id="44" name="Прямоугольник 21">
            <a:extLst>
              <a:ext uri="{FF2B5EF4-FFF2-40B4-BE49-F238E27FC236}">
                <a16:creationId xmlns:a16="http://schemas.microsoft.com/office/drawing/2014/main" id="{C8A1C375-EED7-EC86-71FE-F206EB282029}"/>
              </a:ext>
            </a:extLst>
          </p:cNvPr>
          <p:cNvSpPr/>
          <p:nvPr/>
        </p:nvSpPr>
        <p:spPr>
          <a:xfrm>
            <a:off x="6858000" y="360"/>
            <a:ext cx="2285640" cy="5143320"/>
          </a:xfrm>
          <a:prstGeom prst="rect">
            <a:avLst/>
          </a:prstGeom>
          <a:solidFill>
            <a:srgbClr val="0349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5" name="Picture 2" descr="C:\Users\PACKAR~1\AppData\Local\Temp\Rar$DRa0.303\Белый.png">
            <a:extLst>
              <a:ext uri="{FF2B5EF4-FFF2-40B4-BE49-F238E27FC236}">
                <a16:creationId xmlns:a16="http://schemas.microsoft.com/office/drawing/2014/main" id="{B4A6A3E1-6FAF-D628-562E-415049D5DE4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247160" y="338400"/>
            <a:ext cx="1539360" cy="465120"/>
          </a:xfrm>
          <a:prstGeom prst="rect">
            <a:avLst/>
          </a:prstGeom>
          <a:ln w="0">
            <a:noFill/>
          </a:ln>
        </p:spPr>
      </p:pic>
      <p:sp>
        <p:nvSpPr>
          <p:cNvPr id="46" name="Подзаголовок 2">
            <a:extLst>
              <a:ext uri="{FF2B5EF4-FFF2-40B4-BE49-F238E27FC236}">
                <a16:creationId xmlns:a16="http://schemas.microsoft.com/office/drawing/2014/main" id="{83A54CD3-F08E-A14F-CFB1-C923498074C9}"/>
              </a:ext>
            </a:extLst>
          </p:cNvPr>
          <p:cNvSpPr/>
          <p:nvPr/>
        </p:nvSpPr>
        <p:spPr>
          <a:xfrm>
            <a:off x="7186680" y="3825000"/>
            <a:ext cx="1571400" cy="106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anchor="t">
            <a:normAutofit fontScale="42000" lnSpcReduction="20000"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ru-RU" sz="2000" b="0" strike="noStrike" spc="-1">
                <a:solidFill>
                  <a:srgbClr val="FFFFFF"/>
                </a:solidFill>
                <a:latin typeface="Arial"/>
                <a:ea typeface="Stem Text"/>
              </a:rPr>
              <a:t>Новосибирский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ru-RU" sz="2000" b="0" strike="noStrike" spc="-1">
                <a:solidFill>
                  <a:srgbClr val="FFFFFF"/>
                </a:solidFill>
                <a:latin typeface="Arial"/>
                <a:ea typeface="Stem Text"/>
              </a:rPr>
              <a:t>государственный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ru-RU" sz="2000" b="0" strike="noStrike" spc="-1">
                <a:solidFill>
                  <a:srgbClr val="FFFFFF"/>
                </a:solidFill>
                <a:latin typeface="Arial"/>
                <a:ea typeface="Stem Text"/>
              </a:rPr>
              <a:t>технический 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ru-RU" sz="2000" b="0" strike="noStrike" spc="-1">
                <a:solidFill>
                  <a:srgbClr val="FFFFFF"/>
                </a:solidFill>
                <a:latin typeface="Arial"/>
                <a:ea typeface="Stem Text"/>
              </a:rPr>
              <a:t>Университет НЭТИ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r>
              <a:rPr lang="en-US" sz="3200" b="1" strike="noStrike" spc="-1">
                <a:solidFill>
                  <a:srgbClr val="FFFFFF"/>
                </a:solidFill>
                <a:latin typeface="Arial"/>
                <a:ea typeface="Stem Text"/>
              </a:rPr>
              <a:t>nstu.ru</a:t>
            </a:r>
            <a:endParaRPr lang="ru-RU" sz="3200" b="0" strike="noStrike" spc="-1">
              <a:latin typeface="Arial"/>
            </a:endParaRPr>
          </a:p>
        </p:txBody>
      </p:sp>
      <p:sp>
        <p:nvSpPr>
          <p:cNvPr id="47" name="TextBox 24">
            <a:extLst>
              <a:ext uri="{FF2B5EF4-FFF2-40B4-BE49-F238E27FC236}">
                <a16:creationId xmlns:a16="http://schemas.microsoft.com/office/drawing/2014/main" id="{F3098B4B-415D-C618-E5E0-0FF5B9C24083}"/>
              </a:ext>
            </a:extLst>
          </p:cNvPr>
          <p:cNvSpPr/>
          <p:nvPr/>
        </p:nvSpPr>
        <p:spPr>
          <a:xfrm>
            <a:off x="179640" y="2160000"/>
            <a:ext cx="4500360" cy="29532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600" b="1" strike="noStrike" spc="-1" dirty="0">
                <a:solidFill>
                  <a:srgbClr val="0D0D0D"/>
                </a:solidFill>
                <a:latin typeface="Arial"/>
                <a:ea typeface="Stem Text Bold"/>
              </a:rPr>
              <a:t>Выполнил: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 dirty="0">
                <a:solidFill>
                  <a:srgbClr val="0D0D0D"/>
                </a:solidFill>
                <a:latin typeface="Arial"/>
                <a:ea typeface="Stem Text Bold"/>
              </a:rPr>
              <a:t>Викентьев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800" b="1" strike="noStrike" spc="-1" dirty="0">
                <a:solidFill>
                  <a:srgbClr val="0D0D0D"/>
                </a:solidFill>
                <a:latin typeface="Arial"/>
                <a:ea typeface="Stem Text Bold"/>
              </a:rPr>
              <a:t>Вячеслав Юрьевич</a:t>
            </a: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i="1" strike="noStrike" spc="-1" dirty="0">
                <a:solidFill>
                  <a:srgbClr val="0D0D0D"/>
                </a:solidFill>
                <a:latin typeface="Arial"/>
                <a:ea typeface="Stem Text Bold"/>
              </a:rPr>
              <a:t>Студент гр. АБ-425, АВТФ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1" strike="noStrike" spc="-1" dirty="0">
                <a:solidFill>
                  <a:srgbClr val="0D0D0D"/>
                </a:solidFill>
                <a:latin typeface="Arial"/>
                <a:ea typeface="Stem Text Bold"/>
              </a:rPr>
              <a:t>Руководитель: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1" strike="noStrike" spc="-1" dirty="0">
                <a:solidFill>
                  <a:srgbClr val="0D0D0D"/>
                </a:solidFill>
                <a:latin typeface="Arial"/>
                <a:ea typeface="Stem Text Bold"/>
              </a:rPr>
              <a:t>Архипова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1" strike="noStrike" spc="-1" dirty="0">
                <a:solidFill>
                  <a:srgbClr val="0D0D0D"/>
                </a:solidFill>
                <a:latin typeface="Arial"/>
                <a:ea typeface="Stem Text Bold"/>
              </a:rPr>
              <a:t>Анастасия Борисовна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1600" b="0" i="1" strike="noStrike" spc="-1" dirty="0">
                <a:solidFill>
                  <a:srgbClr val="0D0D0D"/>
                </a:solidFill>
                <a:latin typeface="Arial"/>
                <a:ea typeface="Stem Text Bold"/>
              </a:rPr>
              <a:t>к.т.н., доцент, доцент каф. ЗИ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ru-RU" sz="1800" b="0" strike="noStrike" spc="-1" dirty="0">
              <a:latin typeface="Arial"/>
            </a:endParaRPr>
          </a:p>
        </p:txBody>
      </p:sp>
      <p:sp>
        <p:nvSpPr>
          <p:cNvPr id="48" name="Прямоугольник 25">
            <a:extLst>
              <a:ext uri="{FF2B5EF4-FFF2-40B4-BE49-F238E27FC236}">
                <a16:creationId xmlns:a16="http://schemas.microsoft.com/office/drawing/2014/main" id="{90E0D353-0D1A-94AF-1A89-8F305D9179F1}"/>
              </a:ext>
            </a:extLst>
          </p:cNvPr>
          <p:cNvSpPr/>
          <p:nvPr/>
        </p:nvSpPr>
        <p:spPr>
          <a:xfrm>
            <a:off x="0" y="4821840"/>
            <a:ext cx="6857640" cy="321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1721087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</TotalTime>
  <Words>829</Words>
  <Application>Microsoft Macintosh PowerPoint</Application>
  <PresentationFormat>Экран (16:9)</PresentationFormat>
  <Paragraphs>171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-apple-system</vt:lpstr>
      <vt:lpstr>Arial</vt:lpstr>
      <vt:lpstr>Calibri</vt:lpstr>
      <vt:lpstr>Symbol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dc:description/>
  <cp:lastModifiedBy>Слава Викентьев</cp:lastModifiedBy>
  <cp:revision>23</cp:revision>
  <dcterms:created xsi:type="dcterms:W3CDTF">2019-09-27T08:04:54Z</dcterms:created>
  <dcterms:modified xsi:type="dcterms:W3CDTF">2025-12-18T12:47:06Z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(4:3)</vt:lpwstr>
  </property>
  <property fmtid="{D5CDD505-2E9C-101B-9397-08002B2CF9AE}" pid="3" name="Slides">
    <vt:i4>16</vt:i4>
  </property>
</Properties>
</file>